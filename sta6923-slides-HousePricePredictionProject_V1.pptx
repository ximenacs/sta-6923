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Source Code Pro Black"/>
      <p:bold r:id="rId17"/>
      <p:boldItalic r:id="rId18"/>
    </p:embeddedFont>
    <p:embeddedFont>
      <p:font typeface="Source Code Pro ExtraBold"/>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ourceCodeProExtraBold-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SourceCodeProBlack-bold.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SourceCodeProExtraBold-bold.fntdata"/><Relationship Id="rId6" Type="http://schemas.openxmlformats.org/officeDocument/2006/relationships/slide" Target="slides/slide2.xml"/><Relationship Id="rId18" Type="http://schemas.openxmlformats.org/officeDocument/2006/relationships/font" Target="fonts/SourceCodeProBlack-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330075d5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6330075d5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6362bc59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6362bc59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a382eb6519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a382eb6519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54a98367f_7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54a98367f_7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6330075d5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6330075d5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330075d5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330075d5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54a98367f_7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54a98367f_7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54a98367f_7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54a98367f_7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633f0ea74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633f0ea74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a382eb651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a382eb651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a382eb651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a382eb651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54a98367f_7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54a98367f_7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kaggle.com/datasets/zafarali27/house-price-prediction-dataset/data" TargetMode="External"/><Relationship Id="rId5" Type="http://schemas.openxmlformats.org/officeDocument/2006/relationships/hyperlink" Target="https://www.kaggle.com/datasets/zafarali27/house-price-prediction-dataset/data" TargetMode="External"/><Relationship Id="rId6" Type="http://schemas.openxmlformats.org/officeDocument/2006/relationships/hyperlink" Target="https://github.com/XimenaCS/STA-6923/blob/main/sta6923-projectHouse-v3.Rm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53" name="Shape 53"/>
        <p:cNvGrpSpPr/>
        <p:nvPr/>
      </p:nvGrpSpPr>
      <p:grpSpPr>
        <a:xfrm>
          <a:off x="0" y="0"/>
          <a:ext cx="0" cy="0"/>
          <a:chOff x="0" y="0"/>
          <a:chExt cx="0" cy="0"/>
        </a:xfrm>
      </p:grpSpPr>
      <p:sp>
        <p:nvSpPr>
          <p:cNvPr id="54" name="Google Shape;54;p13"/>
          <p:cNvSpPr txBox="1"/>
          <p:nvPr>
            <p:ph idx="1" type="body"/>
          </p:nvPr>
        </p:nvSpPr>
        <p:spPr>
          <a:xfrm>
            <a:off x="114000" y="254825"/>
            <a:ext cx="4806000" cy="5109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2551">
                <a:solidFill>
                  <a:schemeClr val="dk1"/>
                </a:solidFill>
              </a:rPr>
              <a:t> </a:t>
            </a:r>
            <a:r>
              <a:rPr b="1" lang="en" sz="8851">
                <a:solidFill>
                  <a:schemeClr val="dk1"/>
                </a:solidFill>
              </a:rPr>
              <a:t>House Price Prediction</a:t>
            </a:r>
            <a:r>
              <a:rPr b="1" lang="en" sz="8851">
                <a:solidFill>
                  <a:schemeClr val="dk1"/>
                </a:solidFill>
              </a:rPr>
              <a:t> </a:t>
            </a:r>
            <a:r>
              <a:rPr b="1" lang="en" sz="8851">
                <a:solidFill>
                  <a:schemeClr val="dk1"/>
                </a:solidFill>
              </a:rPr>
              <a:t>Analysis</a:t>
            </a:r>
            <a:endParaRPr b="1" sz="8851">
              <a:solidFill>
                <a:schemeClr val="dk1"/>
              </a:solidFill>
            </a:endParaRPr>
          </a:p>
          <a:p>
            <a:pPr indent="0" lvl="0" marL="0" rtl="0" algn="l">
              <a:spcBef>
                <a:spcPts val="1200"/>
              </a:spcBef>
              <a:spcAft>
                <a:spcPts val="0"/>
              </a:spcAft>
              <a:buNone/>
            </a:pPr>
            <a:r>
              <a:t/>
            </a:r>
            <a:endParaRPr/>
          </a:p>
          <a:p>
            <a:pPr indent="-114300" lvl="0" marL="1371600" rtl="0" algn="l">
              <a:spcBef>
                <a:spcPts val="1200"/>
              </a:spcBef>
              <a:spcAft>
                <a:spcPts val="1200"/>
              </a:spcAft>
              <a:buNone/>
            </a:pPr>
            <a:r>
              <a:t/>
            </a:r>
            <a:endParaRPr b="1" sz="2308">
              <a:solidFill>
                <a:srgbClr val="F1C232"/>
              </a:solidFill>
            </a:endParaRPr>
          </a:p>
        </p:txBody>
      </p:sp>
      <p:sp>
        <p:nvSpPr>
          <p:cNvPr id="55" name="Google Shape;55;p13"/>
          <p:cNvSpPr txBox="1"/>
          <p:nvPr/>
        </p:nvSpPr>
        <p:spPr>
          <a:xfrm>
            <a:off x="227925" y="1855025"/>
            <a:ext cx="4210500" cy="88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rPr>
              <a:t>Prepared by  :  Sikandar Shrestha</a:t>
            </a:r>
            <a:endParaRPr b="1" sz="1800">
              <a:solidFill>
                <a:schemeClr val="dk1"/>
              </a:solidFill>
            </a:endParaRPr>
          </a:p>
          <a:p>
            <a:pPr indent="0" lvl="0" marL="0" rtl="0" algn="l">
              <a:spcBef>
                <a:spcPts val="0"/>
              </a:spcBef>
              <a:spcAft>
                <a:spcPts val="0"/>
              </a:spcAft>
              <a:buNone/>
            </a:pPr>
            <a:r>
              <a:rPr b="1" lang="en" sz="1800">
                <a:solidFill>
                  <a:schemeClr val="dk1"/>
                </a:solidFill>
              </a:rPr>
              <a:t>			    Dulce X. Cid Sanabria</a:t>
            </a:r>
            <a:endParaRPr b="1" sz="1800">
              <a:solidFill>
                <a:schemeClr val="dk1"/>
              </a:solidFill>
            </a:endParaRPr>
          </a:p>
          <a:p>
            <a:pPr indent="0" lvl="0" marL="0" rtl="0" algn="l">
              <a:spcBef>
                <a:spcPts val="0"/>
              </a:spcBef>
              <a:spcAft>
                <a:spcPts val="0"/>
              </a:spcAft>
              <a:buNone/>
            </a:pPr>
            <a:r>
              <a:rPr b="1" lang="en" sz="1800">
                <a:solidFill>
                  <a:schemeClr val="dk1"/>
                </a:solidFill>
              </a:rPr>
              <a:t>Date: 2nd December, 2025, Tues</a:t>
            </a:r>
            <a:r>
              <a:rPr b="1" lang="en" sz="1800">
                <a:solidFill>
                  <a:schemeClr val="dk1"/>
                </a:solidFill>
              </a:rPr>
              <a:t>day</a:t>
            </a:r>
            <a:endParaRPr b="1" sz="1800">
              <a:solidFill>
                <a:schemeClr val="dk1"/>
              </a:solidFill>
            </a:endParaRPr>
          </a:p>
        </p:txBody>
      </p:sp>
      <p:pic>
        <p:nvPicPr>
          <p:cNvPr id="56" name="Google Shape;56;p13" title="Screenshot 2025-11-17 at 5.47.18 PM.png"/>
          <p:cNvPicPr preferRelativeResize="0"/>
          <p:nvPr/>
        </p:nvPicPr>
        <p:blipFill>
          <a:blip r:embed="rId3">
            <a:alphaModFix/>
          </a:blip>
          <a:stretch>
            <a:fillRect/>
          </a:stretch>
        </p:blipFill>
        <p:spPr>
          <a:xfrm>
            <a:off x="5200900" y="367350"/>
            <a:ext cx="3738750" cy="1842675"/>
          </a:xfrm>
          <a:prstGeom prst="rect">
            <a:avLst/>
          </a:prstGeom>
          <a:noFill/>
          <a:ln>
            <a:noFill/>
          </a:ln>
        </p:spPr>
      </p:pic>
      <p:sp>
        <p:nvSpPr>
          <p:cNvPr id="57" name="Google Shape;57;p13"/>
          <p:cNvSpPr txBox="1"/>
          <p:nvPr/>
        </p:nvSpPr>
        <p:spPr>
          <a:xfrm>
            <a:off x="180600" y="765725"/>
            <a:ext cx="44106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Data-Driven Insights for Real Estate Market</a:t>
            </a:r>
            <a:endParaRPr sz="1600">
              <a:solidFill>
                <a:schemeClr val="dk1"/>
              </a:solidFill>
            </a:endParaRPr>
          </a:p>
        </p:txBody>
      </p:sp>
      <p:sp>
        <p:nvSpPr>
          <p:cNvPr id="58" name="Google Shape;58;p13"/>
          <p:cNvSpPr txBox="1"/>
          <p:nvPr/>
        </p:nvSpPr>
        <p:spPr>
          <a:xfrm>
            <a:off x="319475" y="3337600"/>
            <a:ext cx="8338500" cy="41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Data Source link:</a:t>
            </a:r>
            <a:r>
              <a:rPr lang="en">
                <a:solidFill>
                  <a:schemeClr val="dk1"/>
                </a:solidFill>
              </a:rPr>
              <a:t> </a:t>
            </a:r>
            <a:r>
              <a:rPr lang="en" u="sng">
                <a:solidFill>
                  <a:srgbClr val="9900FF"/>
                </a:solidFill>
                <a:hlinkClick r:id="rId4">
                  <a:extLst>
                    <a:ext uri="{A12FA001-AC4F-418D-AE19-62706E023703}">
                      <ahyp:hlinkClr val="tx"/>
                    </a:ext>
                  </a:extLst>
                </a:hlinkClick>
              </a:rPr>
              <a:t>https://www.kaggle.com/datasets/zafarali27/house-price-prediction-dataset/dat</a:t>
            </a:r>
            <a:r>
              <a:rPr lang="en" u="sng">
                <a:solidFill>
                  <a:srgbClr val="9900FF"/>
                </a:solidFill>
                <a:hlinkClick r:id="rId5">
                  <a:extLst>
                    <a:ext uri="{A12FA001-AC4F-418D-AE19-62706E023703}">
                      <ahyp:hlinkClr val="tx"/>
                    </a:ext>
                  </a:extLst>
                </a:hlinkClick>
              </a:rPr>
              <a:t>a</a:t>
            </a:r>
            <a:endParaRPr u="sng">
              <a:solidFill>
                <a:srgbClr val="9900FF"/>
              </a:solidFill>
            </a:endParaRPr>
          </a:p>
          <a:p>
            <a:pPr indent="0" lvl="0" marL="0" rtl="0" algn="l">
              <a:lnSpc>
                <a:spcPct val="115000"/>
              </a:lnSpc>
              <a:spcBef>
                <a:spcPts val="1200"/>
              </a:spcBef>
              <a:spcAft>
                <a:spcPts val="0"/>
              </a:spcAft>
              <a:buClr>
                <a:schemeClr val="dk1"/>
              </a:buClr>
              <a:buSzPts val="1100"/>
              <a:buFont typeface="Arial"/>
              <a:buNone/>
            </a:pPr>
            <a:r>
              <a:t/>
            </a:r>
            <a:endParaRPr u="sng">
              <a:solidFill>
                <a:schemeClr val="dk1"/>
              </a:solidFill>
            </a:endParaRPr>
          </a:p>
          <a:p>
            <a:pPr indent="0" lvl="0" marL="0" rtl="0" algn="l">
              <a:spcBef>
                <a:spcPts val="1200"/>
              </a:spcBef>
              <a:spcAft>
                <a:spcPts val="0"/>
              </a:spcAft>
              <a:buNone/>
            </a:pPr>
            <a:r>
              <a:t/>
            </a:r>
            <a:endParaRPr sz="1800">
              <a:solidFill>
                <a:schemeClr val="dk2"/>
              </a:solidFill>
            </a:endParaRPr>
          </a:p>
        </p:txBody>
      </p:sp>
      <p:sp>
        <p:nvSpPr>
          <p:cNvPr id="59" name="Google Shape;59;p13"/>
          <p:cNvSpPr txBox="1"/>
          <p:nvPr/>
        </p:nvSpPr>
        <p:spPr>
          <a:xfrm>
            <a:off x="340500" y="3831725"/>
            <a:ext cx="84630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Github code link:</a:t>
            </a:r>
            <a:r>
              <a:rPr lang="en" sz="1800">
                <a:solidFill>
                  <a:schemeClr val="dk2"/>
                </a:solidFill>
              </a:rPr>
              <a:t> </a:t>
            </a:r>
            <a:r>
              <a:rPr lang="en" u="sng">
                <a:solidFill>
                  <a:srgbClr val="9900FF"/>
                </a:solidFill>
                <a:hlinkClick r:id="rId6">
                  <a:extLst>
                    <a:ext uri="{A12FA001-AC4F-418D-AE19-62706E023703}">
                      <ahyp:hlinkClr val="tx"/>
                    </a:ext>
                  </a:extLst>
                </a:hlinkClick>
              </a:rPr>
              <a:t>https://github.com/XimenaCS/STA-6923/blob/main/sta6923-projectHouse-v3.Rmd</a:t>
            </a:r>
            <a:endParaRPr>
              <a:solidFill>
                <a:srgbClr val="99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63" name="Shape 63"/>
        <p:cNvGrpSpPr/>
        <p:nvPr/>
      </p:nvGrpSpPr>
      <p:grpSpPr>
        <a:xfrm>
          <a:off x="0" y="0"/>
          <a:ext cx="0" cy="0"/>
          <a:chOff x="0" y="0"/>
          <a:chExt cx="0" cy="0"/>
        </a:xfrm>
      </p:grpSpPr>
      <p:sp>
        <p:nvSpPr>
          <p:cNvPr id="64" name="Google Shape;64;p14"/>
          <p:cNvSpPr txBox="1"/>
          <p:nvPr>
            <p:ph type="title"/>
          </p:nvPr>
        </p:nvSpPr>
        <p:spPr>
          <a:xfrm>
            <a:off x="1552000" y="137200"/>
            <a:ext cx="4790700" cy="43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320">
                <a:latin typeface="Source Code Pro Black"/>
                <a:ea typeface="Source Code Pro Black"/>
                <a:cs typeface="Source Code Pro Black"/>
                <a:sym typeface="Source Code Pro Black"/>
              </a:rPr>
              <a:t>AGENDA</a:t>
            </a:r>
            <a:endParaRPr sz="4320">
              <a:latin typeface="Source Code Pro Black"/>
              <a:ea typeface="Source Code Pro Black"/>
              <a:cs typeface="Source Code Pro Black"/>
              <a:sym typeface="Source Code Pro Black"/>
            </a:endParaRPr>
          </a:p>
        </p:txBody>
      </p:sp>
      <p:sp>
        <p:nvSpPr>
          <p:cNvPr id="65" name="Google Shape;65;p14"/>
          <p:cNvSpPr txBox="1"/>
          <p:nvPr>
            <p:ph idx="1" type="body"/>
          </p:nvPr>
        </p:nvSpPr>
        <p:spPr>
          <a:xfrm>
            <a:off x="451750" y="835150"/>
            <a:ext cx="7923000" cy="3146700"/>
          </a:xfrm>
          <a:prstGeom prst="rect">
            <a:avLst/>
          </a:prstGeom>
        </p:spPr>
        <p:txBody>
          <a:bodyPr anchorCtr="0" anchor="t" bIns="91425" lIns="91425" spcFirstLastPara="1" rIns="91425" wrap="square" tIns="91425">
            <a:normAutofit fontScale="25000" lnSpcReduction="20000"/>
          </a:bodyPr>
          <a:lstStyle/>
          <a:p>
            <a:pPr indent="-363948" lvl="0" marL="457200" rtl="0" algn="just">
              <a:spcBef>
                <a:spcPts val="0"/>
              </a:spcBef>
              <a:spcAft>
                <a:spcPts val="0"/>
              </a:spcAft>
              <a:buClr>
                <a:schemeClr val="dk1"/>
              </a:buClr>
              <a:buSzPct val="100000"/>
              <a:buFont typeface="Source Code Pro Black"/>
              <a:buAutoNum type="arabicPeriod"/>
            </a:pPr>
            <a:r>
              <a:rPr lang="en" sz="8525">
                <a:solidFill>
                  <a:schemeClr val="dk1"/>
                </a:solidFill>
                <a:latin typeface="Source Code Pro Black"/>
                <a:ea typeface="Source Code Pro Black"/>
                <a:cs typeface="Source Code Pro Black"/>
                <a:sym typeface="Source Code Pro Black"/>
              </a:rPr>
              <a:t>Executive Summary</a:t>
            </a:r>
            <a:endParaRPr sz="8525">
              <a:solidFill>
                <a:schemeClr val="dk1"/>
              </a:solidFill>
              <a:latin typeface="Source Code Pro Black"/>
              <a:ea typeface="Source Code Pro Black"/>
              <a:cs typeface="Source Code Pro Black"/>
              <a:sym typeface="Source Code Pro Black"/>
            </a:endParaRPr>
          </a:p>
          <a:p>
            <a:pPr indent="-363948" lvl="0" marL="457200" rtl="0" algn="just">
              <a:spcBef>
                <a:spcPts val="0"/>
              </a:spcBef>
              <a:spcAft>
                <a:spcPts val="0"/>
              </a:spcAft>
              <a:buClr>
                <a:schemeClr val="dk1"/>
              </a:buClr>
              <a:buSzPct val="100000"/>
              <a:buFont typeface="Source Code Pro Black"/>
              <a:buAutoNum type="arabicPeriod"/>
            </a:pPr>
            <a:r>
              <a:rPr lang="en" sz="8525">
                <a:solidFill>
                  <a:schemeClr val="dk1"/>
                </a:solidFill>
                <a:latin typeface="Source Code Pro Black"/>
                <a:ea typeface="Source Code Pro Black"/>
                <a:cs typeface="Source Code Pro Black"/>
                <a:sym typeface="Source Code Pro Black"/>
              </a:rPr>
              <a:t>Project Goal</a:t>
            </a:r>
            <a:endParaRPr sz="8525">
              <a:solidFill>
                <a:schemeClr val="dk1"/>
              </a:solidFill>
              <a:latin typeface="Source Code Pro Black"/>
              <a:ea typeface="Source Code Pro Black"/>
              <a:cs typeface="Source Code Pro Black"/>
              <a:sym typeface="Source Code Pro Black"/>
            </a:endParaRPr>
          </a:p>
          <a:p>
            <a:pPr indent="-363948" lvl="0" marL="457200" rtl="0" algn="just">
              <a:lnSpc>
                <a:spcPct val="100000"/>
              </a:lnSpc>
              <a:spcBef>
                <a:spcPts val="0"/>
              </a:spcBef>
              <a:spcAft>
                <a:spcPts val="0"/>
              </a:spcAft>
              <a:buClr>
                <a:schemeClr val="dk1"/>
              </a:buClr>
              <a:buSzPct val="100000"/>
              <a:buFont typeface="Source Code Pro Black"/>
              <a:buAutoNum type="arabicPeriod"/>
            </a:pPr>
            <a:r>
              <a:rPr lang="en" sz="8525">
                <a:solidFill>
                  <a:schemeClr val="dk1"/>
                </a:solidFill>
                <a:latin typeface="Source Code Pro Black"/>
                <a:ea typeface="Source Code Pro Black"/>
                <a:cs typeface="Source Code Pro Black"/>
                <a:sym typeface="Source Code Pro Black"/>
              </a:rPr>
              <a:t>Visualization Findings</a:t>
            </a:r>
            <a:endParaRPr sz="8525">
              <a:solidFill>
                <a:schemeClr val="dk1"/>
              </a:solidFill>
              <a:latin typeface="Source Code Pro Black"/>
              <a:ea typeface="Source Code Pro Black"/>
              <a:cs typeface="Source Code Pro Black"/>
              <a:sym typeface="Source Code Pro Black"/>
            </a:endParaRPr>
          </a:p>
          <a:p>
            <a:pPr indent="0" lvl="0" marL="0" rtl="0" algn="just">
              <a:lnSpc>
                <a:spcPct val="100000"/>
              </a:lnSpc>
              <a:spcBef>
                <a:spcPts val="0"/>
              </a:spcBef>
              <a:spcAft>
                <a:spcPts val="0"/>
              </a:spcAft>
              <a:buNone/>
            </a:pPr>
            <a:r>
              <a:rPr lang="en" sz="8525">
                <a:solidFill>
                  <a:schemeClr val="dk1"/>
                </a:solidFill>
                <a:latin typeface="Source Code Pro Black"/>
                <a:ea typeface="Source Code Pro Black"/>
                <a:cs typeface="Source Code Pro Black"/>
                <a:sym typeface="Source Code Pro Black"/>
              </a:rPr>
              <a:t>	- Finding 1: Price Vs Area</a:t>
            </a:r>
            <a:endParaRPr sz="8525">
              <a:solidFill>
                <a:schemeClr val="dk1"/>
              </a:solidFill>
              <a:latin typeface="Source Code Pro Black"/>
              <a:ea typeface="Source Code Pro Black"/>
              <a:cs typeface="Source Code Pro Black"/>
              <a:sym typeface="Source Code Pro Black"/>
            </a:endParaRPr>
          </a:p>
          <a:p>
            <a:pPr indent="0" lvl="0" marL="0" rtl="0" algn="just">
              <a:lnSpc>
                <a:spcPct val="100000"/>
              </a:lnSpc>
              <a:spcBef>
                <a:spcPts val="0"/>
              </a:spcBef>
              <a:spcAft>
                <a:spcPts val="0"/>
              </a:spcAft>
              <a:buNone/>
            </a:pPr>
            <a:r>
              <a:rPr lang="en" sz="8525">
                <a:solidFill>
                  <a:schemeClr val="dk1"/>
                </a:solidFill>
                <a:latin typeface="Source Code Pro Black"/>
                <a:ea typeface="Source Code Pro Black"/>
                <a:cs typeface="Source Code Pro Black"/>
                <a:sym typeface="Source Code Pro Black"/>
              </a:rPr>
              <a:t>	- Finding 2: Price Vs Cat. Predictors</a:t>
            </a:r>
            <a:endParaRPr sz="8525">
              <a:solidFill>
                <a:schemeClr val="dk1"/>
              </a:solidFill>
              <a:latin typeface="Source Code Pro Black"/>
              <a:ea typeface="Source Code Pro Black"/>
              <a:cs typeface="Source Code Pro Black"/>
              <a:sym typeface="Source Code Pro Black"/>
            </a:endParaRPr>
          </a:p>
          <a:p>
            <a:pPr indent="457200" lvl="0" marL="0" rtl="0" algn="just">
              <a:lnSpc>
                <a:spcPct val="100000"/>
              </a:lnSpc>
              <a:spcBef>
                <a:spcPts val="0"/>
              </a:spcBef>
              <a:spcAft>
                <a:spcPts val="0"/>
              </a:spcAft>
              <a:buNone/>
            </a:pPr>
            <a:r>
              <a:rPr lang="en" sz="8525">
                <a:solidFill>
                  <a:schemeClr val="dk1"/>
                </a:solidFill>
                <a:latin typeface="Source Code Pro Black"/>
                <a:ea typeface="Source Code Pro Black"/>
                <a:cs typeface="Source Code Pro Black"/>
                <a:sym typeface="Source Code Pro Black"/>
              </a:rPr>
              <a:t>- Finding 3: Piechart (categorical variables)</a:t>
            </a:r>
            <a:endParaRPr sz="8525">
              <a:solidFill>
                <a:schemeClr val="dk1"/>
              </a:solidFill>
              <a:latin typeface="Source Code Pro Black"/>
              <a:ea typeface="Source Code Pro Black"/>
              <a:cs typeface="Source Code Pro Black"/>
              <a:sym typeface="Source Code Pro Black"/>
            </a:endParaRPr>
          </a:p>
          <a:p>
            <a:pPr indent="457200" lvl="0" marL="0" rtl="0" algn="just">
              <a:lnSpc>
                <a:spcPct val="100000"/>
              </a:lnSpc>
              <a:spcBef>
                <a:spcPts val="0"/>
              </a:spcBef>
              <a:spcAft>
                <a:spcPts val="0"/>
              </a:spcAft>
              <a:buNone/>
            </a:pPr>
            <a:r>
              <a:rPr lang="en" sz="8525">
                <a:solidFill>
                  <a:schemeClr val="dk1"/>
                </a:solidFill>
                <a:latin typeface="Source Code Pro Black"/>
                <a:ea typeface="Source Code Pro Black"/>
                <a:cs typeface="Source Code Pro Black"/>
                <a:sym typeface="Source Code Pro Black"/>
              </a:rPr>
              <a:t>- Finding 4: Histogram (Price)</a:t>
            </a:r>
            <a:endParaRPr sz="8525">
              <a:solidFill>
                <a:schemeClr val="dk1"/>
              </a:solidFill>
              <a:latin typeface="Source Code Pro Black"/>
              <a:ea typeface="Source Code Pro Black"/>
              <a:cs typeface="Source Code Pro Black"/>
              <a:sym typeface="Source Code Pro Black"/>
            </a:endParaRPr>
          </a:p>
          <a:p>
            <a:pPr indent="-363948" lvl="0" marL="457200" rtl="0" algn="just">
              <a:lnSpc>
                <a:spcPct val="100000"/>
              </a:lnSpc>
              <a:spcBef>
                <a:spcPts val="0"/>
              </a:spcBef>
              <a:spcAft>
                <a:spcPts val="0"/>
              </a:spcAft>
              <a:buClr>
                <a:schemeClr val="dk1"/>
              </a:buClr>
              <a:buSzPct val="100000"/>
              <a:buFont typeface="Source Code Pro Black"/>
              <a:buAutoNum type="arabicPeriod"/>
            </a:pPr>
            <a:r>
              <a:rPr lang="en" sz="8525">
                <a:solidFill>
                  <a:schemeClr val="dk1"/>
                </a:solidFill>
                <a:latin typeface="Source Code Pro Black"/>
                <a:ea typeface="Source Code Pro Black"/>
                <a:cs typeface="Source Code Pro Black"/>
                <a:sym typeface="Source Code Pro Black"/>
              </a:rPr>
              <a:t>Best Model Performance</a:t>
            </a:r>
            <a:endParaRPr sz="8525">
              <a:solidFill>
                <a:schemeClr val="dk1"/>
              </a:solidFill>
              <a:latin typeface="Source Code Pro Black"/>
              <a:ea typeface="Source Code Pro Black"/>
              <a:cs typeface="Source Code Pro Black"/>
              <a:sym typeface="Source Code Pro Black"/>
            </a:endParaRPr>
          </a:p>
          <a:p>
            <a:pPr indent="-363948" lvl="0" marL="457200" rtl="0" algn="just">
              <a:lnSpc>
                <a:spcPct val="100000"/>
              </a:lnSpc>
              <a:spcBef>
                <a:spcPts val="0"/>
              </a:spcBef>
              <a:spcAft>
                <a:spcPts val="0"/>
              </a:spcAft>
              <a:buClr>
                <a:schemeClr val="dk1"/>
              </a:buClr>
              <a:buSzPct val="100000"/>
              <a:buFont typeface="Source Code Pro Black"/>
              <a:buAutoNum type="arabicPeriod"/>
            </a:pPr>
            <a:r>
              <a:rPr lang="en" sz="8525">
                <a:solidFill>
                  <a:schemeClr val="dk1"/>
                </a:solidFill>
                <a:latin typeface="Source Code Pro Black"/>
                <a:ea typeface="Source Code Pro Black"/>
                <a:cs typeface="Source Code Pro Black"/>
                <a:sym typeface="Source Code Pro Black"/>
              </a:rPr>
              <a:t>Recommendations</a:t>
            </a:r>
            <a:endParaRPr sz="8525">
              <a:solidFill>
                <a:schemeClr val="dk1"/>
              </a:solidFill>
              <a:latin typeface="Source Code Pro Black"/>
              <a:ea typeface="Source Code Pro Black"/>
              <a:cs typeface="Source Code Pro Black"/>
              <a:sym typeface="Source Code Pro Black"/>
            </a:endParaRPr>
          </a:p>
          <a:p>
            <a:pPr indent="-363948" lvl="0" marL="457200" rtl="0" algn="just">
              <a:lnSpc>
                <a:spcPct val="100000"/>
              </a:lnSpc>
              <a:spcBef>
                <a:spcPts val="0"/>
              </a:spcBef>
              <a:spcAft>
                <a:spcPts val="0"/>
              </a:spcAft>
              <a:buClr>
                <a:schemeClr val="dk1"/>
              </a:buClr>
              <a:buSzPct val="100000"/>
              <a:buFont typeface="Source Code Pro Black"/>
              <a:buAutoNum type="arabicPeriod"/>
            </a:pPr>
            <a:r>
              <a:rPr lang="en" sz="8525">
                <a:solidFill>
                  <a:schemeClr val="dk1"/>
                </a:solidFill>
                <a:latin typeface="Source Code Pro Black"/>
                <a:ea typeface="Source Code Pro Black"/>
                <a:cs typeface="Source Code Pro Black"/>
                <a:sym typeface="Source Code Pro Black"/>
              </a:rPr>
              <a:t>Conclusion</a:t>
            </a:r>
            <a:endParaRPr sz="8525">
              <a:solidFill>
                <a:schemeClr val="dk1"/>
              </a:solidFill>
              <a:latin typeface="Source Code Pro Black"/>
              <a:ea typeface="Source Code Pro Black"/>
              <a:cs typeface="Source Code Pro Black"/>
              <a:sym typeface="Source Code Pro Black"/>
            </a:endParaRPr>
          </a:p>
          <a:p>
            <a:pPr indent="-363948" lvl="0" marL="457200" rtl="0" algn="just">
              <a:spcBef>
                <a:spcPts val="0"/>
              </a:spcBef>
              <a:spcAft>
                <a:spcPts val="0"/>
              </a:spcAft>
              <a:buClr>
                <a:schemeClr val="dk1"/>
              </a:buClr>
              <a:buSzPct val="100000"/>
              <a:buFont typeface="Source Code Pro Black"/>
              <a:buAutoNum type="arabicPeriod"/>
            </a:pPr>
            <a:r>
              <a:rPr lang="en" sz="8525">
                <a:solidFill>
                  <a:schemeClr val="dk1"/>
                </a:solidFill>
                <a:latin typeface="Source Code Pro Black"/>
                <a:ea typeface="Source Code Pro Black"/>
                <a:cs typeface="Source Code Pro Black"/>
                <a:sym typeface="Source Code Pro Black"/>
              </a:rPr>
              <a:t>Q&amp;A</a:t>
            </a:r>
            <a:endParaRPr sz="8525">
              <a:solidFill>
                <a:schemeClr val="dk1"/>
              </a:solidFill>
              <a:latin typeface="Source Code Pro Black"/>
              <a:ea typeface="Source Code Pro Black"/>
              <a:cs typeface="Source Code Pro Black"/>
              <a:sym typeface="Source Code Pro Black"/>
            </a:endParaRPr>
          </a:p>
          <a:p>
            <a:pPr indent="0" lvl="0" marL="457200" rtl="0" algn="l">
              <a:spcBef>
                <a:spcPts val="1200"/>
              </a:spcBef>
              <a:spcAft>
                <a:spcPts val="0"/>
              </a:spcAft>
              <a:buNone/>
            </a:pPr>
            <a:r>
              <a:t/>
            </a:r>
            <a:endParaRPr sz="5325">
              <a:latin typeface="Source Code Pro Black"/>
              <a:ea typeface="Source Code Pro Black"/>
              <a:cs typeface="Source Code Pro Black"/>
              <a:sym typeface="Source Code Pro Black"/>
            </a:endParaRPr>
          </a:p>
          <a:p>
            <a:pPr indent="0" lvl="0" marL="914400" rtl="0" algn="l">
              <a:spcBef>
                <a:spcPts val="1200"/>
              </a:spcBef>
              <a:spcAft>
                <a:spcPts val="0"/>
              </a:spcAft>
              <a:buNone/>
            </a:pPr>
            <a:r>
              <a:t/>
            </a:r>
            <a:endParaRPr sz="1600">
              <a:latin typeface="Source Code Pro Black"/>
              <a:ea typeface="Source Code Pro Black"/>
              <a:cs typeface="Source Code Pro Black"/>
              <a:sym typeface="Source Code Pro Black"/>
            </a:endParaRPr>
          </a:p>
          <a:p>
            <a:pPr indent="0" lvl="0" marL="457200" rtl="0" algn="l">
              <a:spcBef>
                <a:spcPts val="1200"/>
              </a:spcBef>
              <a:spcAft>
                <a:spcPts val="1200"/>
              </a:spcAft>
              <a:buNone/>
            </a:pPr>
            <a:r>
              <a:t/>
            </a:r>
            <a:endParaRPr sz="1600">
              <a:latin typeface="Source Code Pro Black"/>
              <a:ea typeface="Source Code Pro Black"/>
              <a:cs typeface="Source Code Pro Black"/>
              <a:sym typeface="Source Code Pro Black"/>
            </a:endParaRPr>
          </a:p>
        </p:txBody>
      </p:sp>
      <p:pic>
        <p:nvPicPr>
          <p:cNvPr id="66" name="Google Shape;66;p14"/>
          <p:cNvPicPr preferRelativeResize="0"/>
          <p:nvPr/>
        </p:nvPicPr>
        <p:blipFill>
          <a:blip r:embed="rId3">
            <a:alphaModFix/>
          </a:blip>
          <a:stretch>
            <a:fillRect/>
          </a:stretch>
        </p:blipFill>
        <p:spPr>
          <a:xfrm>
            <a:off x="4699200" y="1493230"/>
            <a:ext cx="343225" cy="304120"/>
          </a:xfrm>
          <a:prstGeom prst="rect">
            <a:avLst/>
          </a:prstGeom>
          <a:noFill/>
          <a:ln>
            <a:noFill/>
          </a:ln>
        </p:spPr>
      </p:pic>
      <p:pic>
        <p:nvPicPr>
          <p:cNvPr id="67" name="Google Shape;67;p14"/>
          <p:cNvPicPr preferRelativeResize="0"/>
          <p:nvPr/>
        </p:nvPicPr>
        <p:blipFill>
          <a:blip r:embed="rId4">
            <a:alphaModFix/>
          </a:blip>
          <a:stretch>
            <a:fillRect/>
          </a:stretch>
        </p:blipFill>
        <p:spPr>
          <a:xfrm>
            <a:off x="3054925" y="1247975"/>
            <a:ext cx="469024" cy="251025"/>
          </a:xfrm>
          <a:prstGeom prst="rect">
            <a:avLst/>
          </a:prstGeom>
          <a:noFill/>
          <a:ln>
            <a:noFill/>
          </a:ln>
        </p:spPr>
      </p:pic>
      <p:pic>
        <p:nvPicPr>
          <p:cNvPr id="68" name="Google Shape;68;p14"/>
          <p:cNvPicPr preferRelativeResize="0"/>
          <p:nvPr/>
        </p:nvPicPr>
        <p:blipFill>
          <a:blip r:embed="rId5">
            <a:alphaModFix/>
          </a:blip>
          <a:stretch>
            <a:fillRect/>
          </a:stretch>
        </p:blipFill>
        <p:spPr>
          <a:xfrm>
            <a:off x="3454400" y="3159484"/>
            <a:ext cx="343224" cy="29675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72" name="Shape 72"/>
        <p:cNvGrpSpPr/>
        <p:nvPr/>
      </p:nvGrpSpPr>
      <p:grpSpPr>
        <a:xfrm>
          <a:off x="0" y="0"/>
          <a:ext cx="0" cy="0"/>
          <a:chOff x="0" y="0"/>
          <a:chExt cx="0" cy="0"/>
        </a:xfrm>
      </p:grpSpPr>
      <p:sp>
        <p:nvSpPr>
          <p:cNvPr id="73" name="Google Shape;73;p15"/>
          <p:cNvSpPr txBox="1"/>
          <p:nvPr>
            <p:ph type="title"/>
          </p:nvPr>
        </p:nvSpPr>
        <p:spPr>
          <a:xfrm>
            <a:off x="2533825" y="87725"/>
            <a:ext cx="3513300" cy="428100"/>
          </a:xfrm>
          <a:prstGeom prst="rect">
            <a:avLst/>
          </a:prstGeom>
          <a:solidFill>
            <a:srgbClr val="FFD966"/>
          </a:solidFill>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lang="en" sz="2420">
                <a:latin typeface="Source Code Pro ExtraBold"/>
                <a:ea typeface="Source Code Pro ExtraBold"/>
                <a:cs typeface="Source Code Pro ExtraBold"/>
                <a:sym typeface="Source Code Pro ExtraBold"/>
              </a:rPr>
              <a:t>Executive summary</a:t>
            </a:r>
            <a:endParaRPr sz="2420">
              <a:latin typeface="Source Code Pro ExtraBold"/>
              <a:ea typeface="Source Code Pro ExtraBold"/>
              <a:cs typeface="Source Code Pro ExtraBold"/>
              <a:sym typeface="Source Code Pro ExtraBold"/>
            </a:endParaRPr>
          </a:p>
          <a:p>
            <a:pPr indent="0" lvl="0" marL="0" rtl="0" algn="l">
              <a:spcBef>
                <a:spcPts val="0"/>
              </a:spcBef>
              <a:spcAft>
                <a:spcPts val="0"/>
              </a:spcAft>
              <a:buSzPts val="990"/>
              <a:buNone/>
            </a:pPr>
            <a:r>
              <a:t/>
            </a:r>
            <a:endParaRPr sz="2520"/>
          </a:p>
        </p:txBody>
      </p:sp>
      <p:cxnSp>
        <p:nvCxnSpPr>
          <p:cNvPr id="74" name="Google Shape;74;p15"/>
          <p:cNvCxnSpPr/>
          <p:nvPr/>
        </p:nvCxnSpPr>
        <p:spPr>
          <a:xfrm>
            <a:off x="4379175" y="586725"/>
            <a:ext cx="33300" cy="4258500"/>
          </a:xfrm>
          <a:prstGeom prst="straightConnector1">
            <a:avLst/>
          </a:prstGeom>
          <a:noFill/>
          <a:ln cap="flat" cmpd="sng" w="76200">
            <a:solidFill>
              <a:srgbClr val="F1C232"/>
            </a:solidFill>
            <a:prstDash val="solid"/>
            <a:round/>
            <a:headEnd len="med" w="med" type="none"/>
            <a:tailEnd len="med" w="med" type="none"/>
          </a:ln>
        </p:spPr>
      </p:cxnSp>
      <p:cxnSp>
        <p:nvCxnSpPr>
          <p:cNvPr id="75" name="Google Shape;75;p15"/>
          <p:cNvCxnSpPr/>
          <p:nvPr/>
        </p:nvCxnSpPr>
        <p:spPr>
          <a:xfrm flipH="1" rot="10800000">
            <a:off x="59100" y="1958825"/>
            <a:ext cx="9025800" cy="47400"/>
          </a:xfrm>
          <a:prstGeom prst="straightConnector1">
            <a:avLst/>
          </a:prstGeom>
          <a:noFill/>
          <a:ln cap="flat" cmpd="sng" w="76200">
            <a:solidFill>
              <a:srgbClr val="F1C232"/>
            </a:solidFill>
            <a:prstDash val="solid"/>
            <a:round/>
            <a:headEnd len="med" w="med" type="none"/>
            <a:tailEnd len="med" w="med" type="none"/>
          </a:ln>
        </p:spPr>
      </p:cxnSp>
      <p:sp>
        <p:nvSpPr>
          <p:cNvPr id="76" name="Google Shape;76;p15"/>
          <p:cNvSpPr txBox="1"/>
          <p:nvPr/>
        </p:nvSpPr>
        <p:spPr>
          <a:xfrm>
            <a:off x="49675" y="586725"/>
            <a:ext cx="4266000" cy="12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9900FF"/>
                </a:solidFill>
              </a:rPr>
              <a:t>Big Idea!</a:t>
            </a:r>
            <a:endParaRPr sz="1200">
              <a:solidFill>
                <a:srgbClr val="9900FF"/>
              </a:solidFill>
            </a:endParaRPr>
          </a:p>
          <a:p>
            <a:pPr indent="0" lvl="0" marL="0" rtl="0" algn="l">
              <a:spcBef>
                <a:spcPts val="0"/>
              </a:spcBef>
              <a:spcAft>
                <a:spcPts val="0"/>
              </a:spcAft>
              <a:buNone/>
            </a:pPr>
            <a:r>
              <a:rPr b="1" lang="en">
                <a:solidFill>
                  <a:schemeClr val="dk1"/>
                </a:solidFill>
              </a:rPr>
              <a:t>(1)Built a regression model to predict residential property values &amp; identify key market drivers.</a:t>
            </a:r>
            <a:endParaRPr b="1">
              <a:solidFill>
                <a:schemeClr val="dk1"/>
              </a:solidFill>
            </a:endParaRPr>
          </a:p>
          <a:p>
            <a:pPr indent="0" lvl="0" marL="0" rtl="0" algn="l">
              <a:spcBef>
                <a:spcPts val="0"/>
              </a:spcBef>
              <a:spcAft>
                <a:spcPts val="0"/>
              </a:spcAft>
              <a:buNone/>
            </a:pPr>
            <a:r>
              <a:t/>
            </a:r>
            <a:endParaRPr b="1">
              <a:solidFill>
                <a:schemeClr val="dk1"/>
              </a:solidFill>
            </a:endParaRPr>
          </a:p>
        </p:txBody>
      </p:sp>
      <p:sp>
        <p:nvSpPr>
          <p:cNvPr id="77" name="Google Shape;77;p15"/>
          <p:cNvSpPr txBox="1"/>
          <p:nvPr/>
        </p:nvSpPr>
        <p:spPr>
          <a:xfrm>
            <a:off x="4476125" y="524750"/>
            <a:ext cx="4377000" cy="12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9900FF"/>
                </a:solidFill>
              </a:rPr>
              <a:t>Scope</a:t>
            </a:r>
            <a:r>
              <a:rPr b="1" lang="en">
                <a:solidFill>
                  <a:srgbClr val="9900FF"/>
                </a:solidFill>
              </a:rPr>
              <a:t>:</a:t>
            </a:r>
            <a:endParaRPr>
              <a:solidFill>
                <a:srgbClr val="9900FF"/>
              </a:solidFill>
            </a:endParaRPr>
          </a:p>
          <a:p>
            <a:pPr indent="0" lvl="0" marL="0" rtl="0" algn="l">
              <a:lnSpc>
                <a:spcPct val="115000"/>
              </a:lnSpc>
              <a:spcBef>
                <a:spcPts val="0"/>
              </a:spcBef>
              <a:spcAft>
                <a:spcPts val="0"/>
              </a:spcAft>
              <a:buNone/>
            </a:pPr>
            <a:r>
              <a:rPr b="1" lang="en">
                <a:solidFill>
                  <a:schemeClr val="dk1"/>
                </a:solidFill>
              </a:rPr>
              <a:t>(1) Analyzed a comprehensive dataset of 2000 properties with 8 distinct factors including Area, Bedrooms, Bathrooms, Floors, YearBuit, Location, Garage.</a:t>
            </a:r>
            <a:endParaRPr b="1">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0"/>
              </a:spcBef>
              <a:spcAft>
                <a:spcPts val="0"/>
              </a:spcAft>
              <a:buNone/>
            </a:pPr>
            <a:r>
              <a:t/>
            </a:r>
            <a:endParaRPr>
              <a:solidFill>
                <a:schemeClr val="dk1"/>
              </a:solidFill>
            </a:endParaRPr>
          </a:p>
        </p:txBody>
      </p:sp>
      <p:sp>
        <p:nvSpPr>
          <p:cNvPr id="78" name="Google Shape;78;p15"/>
          <p:cNvSpPr txBox="1"/>
          <p:nvPr/>
        </p:nvSpPr>
        <p:spPr>
          <a:xfrm>
            <a:off x="0" y="2053550"/>
            <a:ext cx="4377000" cy="27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9900FF"/>
                </a:solidFill>
              </a:rPr>
              <a:t>Key Outcome: </a:t>
            </a:r>
            <a:endParaRPr b="1">
              <a:solidFill>
                <a:srgbClr val="9900FF"/>
              </a:solidFill>
            </a:endParaRPr>
          </a:p>
          <a:p>
            <a:pPr indent="0" lvl="0" marL="0" rtl="0" algn="l">
              <a:spcBef>
                <a:spcPts val="0"/>
              </a:spcBef>
              <a:spcAft>
                <a:spcPts val="0"/>
              </a:spcAft>
              <a:buClr>
                <a:schemeClr val="dk1"/>
              </a:buClr>
              <a:buSzPts val="1100"/>
              <a:buFont typeface="Arial"/>
              <a:buNone/>
            </a:pPr>
            <a:r>
              <a:rPr lang="en">
                <a:solidFill>
                  <a:schemeClr val="dk1"/>
                </a:solidFill>
              </a:rPr>
              <a:t>(1)</a:t>
            </a:r>
            <a:r>
              <a:rPr lang="en">
                <a:solidFill>
                  <a:schemeClr val="dk1"/>
                </a:solidFill>
              </a:rPr>
              <a:t> </a:t>
            </a:r>
            <a:r>
              <a:rPr lang="en">
                <a:solidFill>
                  <a:schemeClr val="dk1"/>
                </a:solidFill>
              </a:rPr>
              <a:t>After rigorous </a:t>
            </a:r>
            <a:r>
              <a:rPr lang="en">
                <a:solidFill>
                  <a:schemeClr val="dk1"/>
                </a:solidFill>
              </a:rPr>
              <a:t>testing</a:t>
            </a:r>
            <a:r>
              <a:rPr lang="en">
                <a:solidFill>
                  <a:schemeClr val="dk1"/>
                </a:solidFill>
              </a:rPr>
              <a:t> of multiple algorithms,</a:t>
            </a:r>
            <a:r>
              <a:rPr lang="en">
                <a:solidFill>
                  <a:schemeClr val="dk1"/>
                </a:solidFill>
              </a:rPr>
              <a:t> </a:t>
            </a:r>
            <a:r>
              <a:rPr lang="en">
                <a:solidFill>
                  <a:schemeClr val="dk1"/>
                </a:solidFill>
              </a:rPr>
              <a:t>an Elastic Net Regression Model was selected as the final model based the R</a:t>
            </a:r>
            <a:r>
              <a:rPr baseline="30000" lang="en">
                <a:solidFill>
                  <a:schemeClr val="dk1"/>
                </a:solidFill>
              </a:rPr>
              <a:t>2 </a:t>
            </a:r>
            <a:r>
              <a:rPr lang="en">
                <a:solidFill>
                  <a:schemeClr val="dk1"/>
                </a:solidFill>
              </a:rPr>
              <a:t>and RMSE.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(2)Despite being the best performing model, its low explanatory power (</a:t>
            </a:r>
            <a:r>
              <a:rPr lang="en">
                <a:solidFill>
                  <a:schemeClr val="dk1"/>
                </a:solidFill>
              </a:rPr>
              <a:t>R</a:t>
            </a:r>
            <a:r>
              <a:rPr baseline="30000" lang="en">
                <a:solidFill>
                  <a:schemeClr val="dk1"/>
                </a:solidFill>
              </a:rPr>
              <a:t>2</a:t>
            </a:r>
            <a:r>
              <a:rPr lang="en">
                <a:solidFill>
                  <a:schemeClr val="dk1"/>
                </a:solidFill>
              </a:rPr>
              <a:t>) shows the fundamental limitation of the dataset.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(3)A significant portion of housing price variation is driven by factors not captured in the given dataset.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
        <p:nvSpPr>
          <p:cNvPr id="79" name="Google Shape;79;p15"/>
          <p:cNvSpPr txBox="1"/>
          <p:nvPr/>
        </p:nvSpPr>
        <p:spPr>
          <a:xfrm>
            <a:off x="4412475" y="2053550"/>
            <a:ext cx="4672500" cy="30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9900FF"/>
                </a:solidFill>
              </a:rPr>
              <a:t>Recommendation:</a:t>
            </a:r>
            <a:endParaRPr b="1">
              <a:solidFill>
                <a:srgbClr val="9900FF"/>
              </a:solidFill>
            </a:endParaRPr>
          </a:p>
          <a:p>
            <a:pPr indent="0" lvl="0" marL="0" rtl="0" algn="l">
              <a:spcBef>
                <a:spcPts val="0"/>
              </a:spcBef>
              <a:spcAft>
                <a:spcPts val="0"/>
              </a:spcAft>
              <a:buClr>
                <a:schemeClr val="dk1"/>
              </a:buClr>
              <a:buSzPts val="1100"/>
              <a:buFont typeface="Arial"/>
              <a:buNone/>
            </a:pPr>
            <a:r>
              <a:rPr lang="en">
                <a:solidFill>
                  <a:schemeClr val="dk1"/>
                </a:solidFill>
              </a:rPr>
              <a:t>(1)The available predictors (area, rooms, location, garage, etc) do not appear to capture the key factors that typically influence housing prices in the real world.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(2)Because of the low value of  R2, the relationship is not linear, that means some important predictors are missing such as neighborhood attributes, proximites services, renovations, market conditions etc.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(3)Practical use would require collecting more informative variables or revisiting how the data were generated to ensure that realistic price–feature relationships exist.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pic>
        <p:nvPicPr>
          <p:cNvPr id="80" name="Google Shape;80;p15"/>
          <p:cNvPicPr preferRelativeResize="0"/>
          <p:nvPr/>
        </p:nvPicPr>
        <p:blipFill rotWithShape="1">
          <a:blip r:embed="rId3">
            <a:alphaModFix/>
          </a:blip>
          <a:srcRect b="5517" l="0" r="0" t="0"/>
          <a:stretch/>
        </p:blipFill>
        <p:spPr>
          <a:xfrm>
            <a:off x="984700" y="633645"/>
            <a:ext cx="281401" cy="252579"/>
          </a:xfrm>
          <a:prstGeom prst="rect">
            <a:avLst/>
          </a:prstGeom>
          <a:noFill/>
          <a:ln>
            <a:noFill/>
          </a:ln>
        </p:spPr>
      </p:pic>
      <p:pic>
        <p:nvPicPr>
          <p:cNvPr id="81" name="Google Shape;81;p15"/>
          <p:cNvPicPr preferRelativeResize="0"/>
          <p:nvPr/>
        </p:nvPicPr>
        <p:blipFill>
          <a:blip r:embed="rId4">
            <a:alphaModFix/>
          </a:blip>
          <a:stretch>
            <a:fillRect/>
          </a:stretch>
        </p:blipFill>
        <p:spPr>
          <a:xfrm>
            <a:off x="6156050" y="2103325"/>
            <a:ext cx="281400" cy="252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85" name="Shape 85"/>
        <p:cNvGrpSpPr/>
        <p:nvPr/>
      </p:nvGrpSpPr>
      <p:grpSpPr>
        <a:xfrm>
          <a:off x="0" y="0"/>
          <a:ext cx="0" cy="0"/>
          <a:chOff x="0" y="0"/>
          <a:chExt cx="0" cy="0"/>
        </a:xfrm>
      </p:grpSpPr>
      <p:sp>
        <p:nvSpPr>
          <p:cNvPr id="86" name="Google Shape;86;p16"/>
          <p:cNvSpPr txBox="1"/>
          <p:nvPr>
            <p:ph type="title"/>
          </p:nvPr>
        </p:nvSpPr>
        <p:spPr>
          <a:xfrm>
            <a:off x="227125" y="220025"/>
            <a:ext cx="3336000" cy="49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720"/>
              <a:t>Project Goal </a:t>
            </a:r>
            <a:endParaRPr sz="2720"/>
          </a:p>
        </p:txBody>
      </p:sp>
      <p:sp>
        <p:nvSpPr>
          <p:cNvPr id="87" name="Google Shape;87;p16"/>
          <p:cNvSpPr txBox="1"/>
          <p:nvPr>
            <p:ph idx="1" type="body"/>
          </p:nvPr>
        </p:nvSpPr>
        <p:spPr>
          <a:xfrm>
            <a:off x="227100" y="870625"/>
            <a:ext cx="8517000" cy="37263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AutoNum type="arabicParenR"/>
            </a:pPr>
            <a:r>
              <a:rPr lang="en" sz="2000">
                <a:solidFill>
                  <a:schemeClr val="dk1"/>
                </a:solidFill>
              </a:rPr>
              <a:t>Identify</a:t>
            </a:r>
            <a:r>
              <a:rPr lang="en" sz="2000">
                <a:solidFill>
                  <a:schemeClr val="dk1"/>
                </a:solidFill>
              </a:rPr>
              <a:t> Key Factors: Determine and quantify the most significant factors influencing house prices.</a:t>
            </a:r>
            <a:endParaRPr sz="2000">
              <a:solidFill>
                <a:schemeClr val="dk1"/>
              </a:solidFill>
            </a:endParaRPr>
          </a:p>
          <a:p>
            <a:pPr indent="-355600" lvl="0" marL="457200" rtl="0" algn="l">
              <a:spcBef>
                <a:spcPts val="0"/>
              </a:spcBef>
              <a:spcAft>
                <a:spcPts val="0"/>
              </a:spcAft>
              <a:buClr>
                <a:schemeClr val="dk1"/>
              </a:buClr>
              <a:buSzPts val="2000"/>
              <a:buAutoNum type="arabicParenR"/>
            </a:pPr>
            <a:r>
              <a:rPr lang="en" sz="2000">
                <a:solidFill>
                  <a:schemeClr val="dk1"/>
                </a:solidFill>
              </a:rPr>
              <a:t>Exploratory Analysis: Uncover hidden patterns, trends, and correlations within the housing market data.</a:t>
            </a:r>
            <a:endParaRPr sz="2000">
              <a:solidFill>
                <a:schemeClr val="dk1"/>
              </a:solidFill>
            </a:endParaRPr>
          </a:p>
          <a:p>
            <a:pPr indent="-355600" lvl="0" marL="457200" rtl="0" algn="l">
              <a:spcBef>
                <a:spcPts val="0"/>
              </a:spcBef>
              <a:spcAft>
                <a:spcPts val="0"/>
              </a:spcAft>
              <a:buClr>
                <a:schemeClr val="dk1"/>
              </a:buClr>
              <a:buSzPts val="2000"/>
              <a:buAutoNum type="arabicParenR"/>
            </a:pPr>
            <a:r>
              <a:rPr lang="en" sz="2000">
                <a:solidFill>
                  <a:schemeClr val="dk1"/>
                </a:solidFill>
              </a:rPr>
              <a:t>Model Building: Split the data into train &amp; test ( validation set), select the most effective predictive model ( algorithm) to estimate the property price.</a:t>
            </a:r>
            <a:endParaRPr sz="2000">
              <a:solidFill>
                <a:schemeClr val="dk1"/>
              </a:solidFill>
            </a:endParaRPr>
          </a:p>
          <a:p>
            <a:pPr indent="-355600" lvl="0" marL="457200" rtl="0" algn="l">
              <a:spcBef>
                <a:spcPts val="0"/>
              </a:spcBef>
              <a:spcAft>
                <a:spcPts val="0"/>
              </a:spcAft>
              <a:buClr>
                <a:schemeClr val="dk1"/>
              </a:buClr>
              <a:buSzPts val="2000"/>
              <a:buAutoNum type="arabicParenR"/>
            </a:pPr>
            <a:r>
              <a:rPr lang="en" sz="2000">
                <a:solidFill>
                  <a:schemeClr val="dk1"/>
                </a:solidFill>
              </a:rPr>
              <a:t>Deliver Actionable Insights: Provide a clear, interpretable analysis for buyers, sellers, &amp; real estate professionals to make informed financial decisions.</a:t>
            </a:r>
            <a:endParaRPr sz="2000">
              <a:solidFill>
                <a:schemeClr val="dk1"/>
              </a:solidFill>
            </a:endParaRPr>
          </a:p>
        </p:txBody>
      </p:sp>
      <p:pic>
        <p:nvPicPr>
          <p:cNvPr id="88" name="Google Shape;88;p16"/>
          <p:cNvPicPr preferRelativeResize="0"/>
          <p:nvPr/>
        </p:nvPicPr>
        <p:blipFill>
          <a:blip r:embed="rId3">
            <a:alphaModFix/>
          </a:blip>
          <a:stretch>
            <a:fillRect/>
          </a:stretch>
        </p:blipFill>
        <p:spPr>
          <a:xfrm>
            <a:off x="2380675" y="305575"/>
            <a:ext cx="768276" cy="411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92" name="Shape 92"/>
        <p:cNvGrpSpPr/>
        <p:nvPr/>
      </p:nvGrpSpPr>
      <p:grpSpPr>
        <a:xfrm>
          <a:off x="0" y="0"/>
          <a:ext cx="0" cy="0"/>
          <a:chOff x="0" y="0"/>
          <a:chExt cx="0" cy="0"/>
        </a:xfrm>
      </p:grpSpPr>
      <p:sp>
        <p:nvSpPr>
          <p:cNvPr id="93" name="Google Shape;93;p17"/>
          <p:cNvSpPr txBox="1"/>
          <p:nvPr>
            <p:ph type="title"/>
          </p:nvPr>
        </p:nvSpPr>
        <p:spPr>
          <a:xfrm>
            <a:off x="49675" y="47200"/>
            <a:ext cx="7783800" cy="5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120">
                <a:latin typeface="Source Code Pro ExtraBold"/>
                <a:ea typeface="Source Code Pro ExtraBold"/>
                <a:cs typeface="Source Code Pro ExtraBold"/>
                <a:sym typeface="Source Code Pro ExtraBold"/>
              </a:rPr>
              <a:t>Visualization 1</a:t>
            </a:r>
            <a:r>
              <a:rPr b="0" lang="en" sz="2120">
                <a:latin typeface="Source Code Pro ExtraBold"/>
                <a:ea typeface="Source Code Pro ExtraBold"/>
                <a:cs typeface="Source Code Pro ExtraBold"/>
                <a:sym typeface="Source Code Pro ExtraBold"/>
              </a:rPr>
              <a:t>: </a:t>
            </a:r>
            <a:r>
              <a:rPr b="1" lang="en" sz="1900">
                <a:solidFill>
                  <a:srgbClr val="9900FF"/>
                </a:solidFill>
              </a:rPr>
              <a:t>Title: ScatterPlot between ‘Price’ VS ‘Area’</a:t>
            </a:r>
            <a:endParaRPr b="0" sz="2120">
              <a:latin typeface="Source Code Pro ExtraBold"/>
              <a:ea typeface="Source Code Pro ExtraBold"/>
              <a:cs typeface="Source Code Pro ExtraBold"/>
              <a:sym typeface="Source Code Pro ExtraBold"/>
            </a:endParaRPr>
          </a:p>
        </p:txBody>
      </p:sp>
      <p:sp>
        <p:nvSpPr>
          <p:cNvPr id="94" name="Google Shape;94;p17"/>
          <p:cNvSpPr txBox="1"/>
          <p:nvPr/>
        </p:nvSpPr>
        <p:spPr>
          <a:xfrm>
            <a:off x="179800" y="3331125"/>
            <a:ext cx="8765400" cy="168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9900FF"/>
                </a:solidFill>
                <a:highlight>
                  <a:schemeClr val="accent4"/>
                </a:highlight>
                <a:latin typeface="Times New Roman"/>
                <a:ea typeface="Times New Roman"/>
                <a:cs typeface="Times New Roman"/>
                <a:sym typeface="Times New Roman"/>
              </a:rPr>
              <a:t>Critical Observations: </a:t>
            </a:r>
            <a:endParaRPr sz="1800">
              <a:solidFill>
                <a:srgbClr val="9900FF"/>
              </a:solidFill>
              <a:highlight>
                <a:schemeClr val="accent4"/>
              </a:highlight>
              <a:latin typeface="Times New Roman"/>
              <a:ea typeface="Times New Roman"/>
              <a:cs typeface="Times New Roman"/>
              <a:sym typeface="Times New Roman"/>
            </a:endParaRPr>
          </a:p>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1) No Visible Correlation: </a:t>
            </a:r>
            <a:r>
              <a:rPr lang="en">
                <a:solidFill>
                  <a:schemeClr val="dk1"/>
                </a:solidFill>
                <a:latin typeface="Times New Roman"/>
                <a:ea typeface="Times New Roman"/>
                <a:cs typeface="Times New Roman"/>
                <a:sym typeface="Times New Roman"/>
              </a:rPr>
              <a:t>The scatter points are spread uniformly across all area values, so there is no clear upward or downward trend.</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2)</a:t>
            </a:r>
            <a:r>
              <a:rPr b="1" lang="en">
                <a:solidFill>
                  <a:schemeClr val="dk1"/>
                </a:solidFill>
                <a:highlight>
                  <a:schemeClr val="accent4"/>
                </a:highlight>
                <a:latin typeface="Times New Roman"/>
                <a:ea typeface="Times New Roman"/>
                <a:cs typeface="Times New Roman"/>
                <a:sym typeface="Times New Roman"/>
              </a:rPr>
              <a:t>Random Price Distribution: </a:t>
            </a:r>
            <a:r>
              <a:rPr lang="en">
                <a:solidFill>
                  <a:schemeClr val="dk1"/>
                </a:solidFill>
                <a:highlight>
                  <a:schemeClr val="accent4"/>
                </a:highlight>
                <a:latin typeface="Times New Roman"/>
                <a:ea typeface="Times New Roman"/>
                <a:cs typeface="Times New Roman"/>
                <a:sym typeface="Times New Roman"/>
              </a:rPr>
              <a:t>House prices appear to be randomly distributed, regardless of the property's size. A small home is just as likely to be expensive as a large one, and vice-versa.</a:t>
            </a:r>
            <a:endParaRPr>
              <a:solidFill>
                <a:schemeClr val="dk1"/>
              </a:solidFill>
              <a:highlight>
                <a:schemeClr val="accent4"/>
              </a:highlight>
              <a:latin typeface="Times New Roman"/>
              <a:ea typeface="Times New Roman"/>
              <a:cs typeface="Times New Roman"/>
              <a:sym typeface="Times New Roman"/>
            </a:endParaRPr>
          </a:p>
          <a:p>
            <a:pPr indent="0" lvl="0" marL="0" rtl="0" algn="l">
              <a:spcBef>
                <a:spcPts val="0"/>
              </a:spcBef>
              <a:spcAft>
                <a:spcPts val="0"/>
              </a:spcAft>
              <a:buNone/>
            </a:pPr>
            <a:r>
              <a:rPr b="1" lang="en">
                <a:solidFill>
                  <a:schemeClr val="dk1"/>
                </a:solidFill>
                <a:highlight>
                  <a:schemeClr val="accent4"/>
                </a:highlight>
                <a:latin typeface="Times New Roman"/>
                <a:ea typeface="Times New Roman"/>
                <a:cs typeface="Times New Roman"/>
                <a:sym typeface="Times New Roman"/>
              </a:rPr>
              <a:t>3) Flat Regression line: </a:t>
            </a:r>
            <a:r>
              <a:rPr lang="en">
                <a:solidFill>
                  <a:schemeClr val="dk1"/>
                </a:solidFill>
                <a:highlight>
                  <a:schemeClr val="accent4"/>
                </a:highlight>
                <a:latin typeface="Times New Roman"/>
                <a:ea typeface="Times New Roman"/>
                <a:cs typeface="Times New Roman"/>
                <a:sym typeface="Times New Roman"/>
              </a:rPr>
              <a:t>The regression line (red line) is horizontal, which statistically confirms that Area has no linear relationship with Price in this dataset.</a:t>
            </a:r>
            <a:endParaRPr>
              <a:solidFill>
                <a:schemeClr val="dk1"/>
              </a:solidFill>
              <a:highlight>
                <a:schemeClr val="accent4"/>
              </a:highlight>
              <a:latin typeface="Times New Roman"/>
              <a:ea typeface="Times New Roman"/>
              <a:cs typeface="Times New Roman"/>
              <a:sym typeface="Times New Roman"/>
            </a:endParaRPr>
          </a:p>
          <a:p>
            <a:pPr indent="0" lvl="0" marL="0" rtl="0" algn="l">
              <a:spcBef>
                <a:spcPts val="0"/>
              </a:spcBef>
              <a:spcAft>
                <a:spcPts val="0"/>
              </a:spcAft>
              <a:buNone/>
            </a:pPr>
            <a:r>
              <a:t/>
            </a:r>
            <a:endParaRPr b="1" sz="2000">
              <a:solidFill>
                <a:schemeClr val="dk2"/>
              </a:solidFill>
              <a:latin typeface="Times New Roman"/>
              <a:ea typeface="Times New Roman"/>
              <a:cs typeface="Times New Roman"/>
              <a:sym typeface="Times New Roman"/>
            </a:endParaRPr>
          </a:p>
        </p:txBody>
      </p:sp>
      <p:pic>
        <p:nvPicPr>
          <p:cNvPr id="95" name="Google Shape;95;p17"/>
          <p:cNvPicPr preferRelativeResize="0"/>
          <p:nvPr/>
        </p:nvPicPr>
        <p:blipFill>
          <a:blip r:embed="rId3">
            <a:alphaModFix/>
          </a:blip>
          <a:stretch>
            <a:fillRect/>
          </a:stretch>
        </p:blipFill>
        <p:spPr>
          <a:xfrm>
            <a:off x="7069350" y="590825"/>
            <a:ext cx="1743425" cy="1439920"/>
          </a:xfrm>
          <a:prstGeom prst="rect">
            <a:avLst/>
          </a:prstGeom>
          <a:noFill/>
          <a:ln>
            <a:noFill/>
          </a:ln>
        </p:spPr>
      </p:pic>
      <p:pic>
        <p:nvPicPr>
          <p:cNvPr id="96" name="Google Shape;96;p17" title="scatterplot(priceVSarea).png"/>
          <p:cNvPicPr preferRelativeResize="0"/>
          <p:nvPr/>
        </p:nvPicPr>
        <p:blipFill>
          <a:blip r:embed="rId4">
            <a:alphaModFix/>
          </a:blip>
          <a:stretch>
            <a:fillRect/>
          </a:stretch>
        </p:blipFill>
        <p:spPr>
          <a:xfrm>
            <a:off x="1617400" y="865850"/>
            <a:ext cx="3809325" cy="2371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00" name="Shape 100"/>
        <p:cNvGrpSpPr/>
        <p:nvPr/>
      </p:nvGrpSpPr>
      <p:grpSpPr>
        <a:xfrm>
          <a:off x="0" y="0"/>
          <a:ext cx="0" cy="0"/>
          <a:chOff x="0" y="0"/>
          <a:chExt cx="0" cy="0"/>
        </a:xfrm>
      </p:grpSpPr>
      <p:sp>
        <p:nvSpPr>
          <p:cNvPr id="101" name="Google Shape;101;p18"/>
          <p:cNvSpPr txBox="1"/>
          <p:nvPr>
            <p:ph type="title"/>
          </p:nvPr>
        </p:nvSpPr>
        <p:spPr>
          <a:xfrm>
            <a:off x="85175" y="70975"/>
            <a:ext cx="7842900" cy="55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520">
                <a:solidFill>
                  <a:srgbClr val="9900FF"/>
                </a:solidFill>
                <a:latin typeface="Source Code Pro ExtraBold"/>
                <a:ea typeface="Source Code Pro ExtraBold"/>
                <a:cs typeface="Source Code Pro ExtraBold"/>
                <a:sym typeface="Source Code Pro ExtraBold"/>
              </a:rPr>
              <a:t>Visualization 2:</a:t>
            </a:r>
            <a:r>
              <a:rPr lang="en" sz="1520">
                <a:latin typeface="Source Code Pro ExtraBold"/>
                <a:ea typeface="Source Code Pro ExtraBold"/>
                <a:cs typeface="Source Code Pro ExtraBold"/>
                <a:sym typeface="Source Code Pro ExtraBold"/>
              </a:rPr>
              <a:t> Boxplot Between Categorical variables vs Price</a:t>
            </a:r>
            <a:endParaRPr b="0" sz="1520">
              <a:latin typeface="Source Code Pro ExtraBold"/>
              <a:ea typeface="Source Code Pro ExtraBold"/>
              <a:cs typeface="Source Code Pro ExtraBold"/>
              <a:sym typeface="Source Code Pro ExtraBold"/>
            </a:endParaRPr>
          </a:p>
        </p:txBody>
      </p:sp>
      <p:pic>
        <p:nvPicPr>
          <p:cNvPr id="102" name="Google Shape;102;p18"/>
          <p:cNvPicPr preferRelativeResize="0"/>
          <p:nvPr/>
        </p:nvPicPr>
        <p:blipFill>
          <a:blip r:embed="rId3">
            <a:alphaModFix/>
          </a:blip>
          <a:stretch>
            <a:fillRect/>
          </a:stretch>
        </p:blipFill>
        <p:spPr>
          <a:xfrm>
            <a:off x="8088875" y="40807"/>
            <a:ext cx="951050" cy="685068"/>
          </a:xfrm>
          <a:prstGeom prst="rect">
            <a:avLst/>
          </a:prstGeom>
          <a:noFill/>
          <a:ln>
            <a:noFill/>
          </a:ln>
        </p:spPr>
      </p:pic>
      <p:pic>
        <p:nvPicPr>
          <p:cNvPr id="103" name="Google Shape;103;p18" title="boxplot(catVSprice).png"/>
          <p:cNvPicPr preferRelativeResize="0"/>
          <p:nvPr/>
        </p:nvPicPr>
        <p:blipFill>
          <a:blip r:embed="rId4">
            <a:alphaModFix/>
          </a:blip>
          <a:stretch>
            <a:fillRect/>
          </a:stretch>
        </p:blipFill>
        <p:spPr>
          <a:xfrm>
            <a:off x="4080800" y="725875"/>
            <a:ext cx="4959125" cy="4050551"/>
          </a:xfrm>
          <a:prstGeom prst="rect">
            <a:avLst/>
          </a:prstGeom>
          <a:noFill/>
          <a:ln>
            <a:noFill/>
          </a:ln>
        </p:spPr>
      </p:pic>
      <p:sp>
        <p:nvSpPr>
          <p:cNvPr id="104" name="Google Shape;104;p18"/>
          <p:cNvSpPr txBox="1"/>
          <p:nvPr/>
        </p:nvSpPr>
        <p:spPr>
          <a:xfrm>
            <a:off x="85175" y="437300"/>
            <a:ext cx="4089300" cy="45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Times New Roman"/>
                <a:ea typeface="Times New Roman"/>
                <a:cs typeface="Times New Roman"/>
                <a:sym typeface="Times New Roman"/>
              </a:rPr>
              <a:t>1)</a:t>
            </a:r>
            <a:r>
              <a:rPr lang="en" sz="1500">
                <a:solidFill>
                  <a:schemeClr val="dk1"/>
                </a:solidFill>
                <a:latin typeface="Times New Roman"/>
                <a:ea typeface="Times New Roman"/>
                <a:cs typeface="Times New Roman"/>
                <a:sym typeface="Times New Roman"/>
              </a:rPr>
              <a:t>Boxplots illustrate how housing prices vary across the different categories of each variable.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1500">
                <a:solidFill>
                  <a:schemeClr val="dk1"/>
                </a:solidFill>
                <a:latin typeface="Times New Roman"/>
                <a:ea typeface="Times New Roman"/>
                <a:cs typeface="Times New Roman"/>
                <a:sym typeface="Times New Roman"/>
              </a:rPr>
              <a:t>2</a:t>
            </a:r>
            <a:r>
              <a:rPr b="1" lang="en" sz="1500">
                <a:solidFill>
                  <a:schemeClr val="dk1"/>
                </a:solidFill>
                <a:latin typeface="Times New Roman"/>
                <a:ea typeface="Times New Roman"/>
                <a:cs typeface="Times New Roman"/>
                <a:sym typeface="Times New Roman"/>
              </a:rPr>
              <a:t>) Flat Medians:</a:t>
            </a:r>
            <a:r>
              <a:rPr lang="en" sz="1500">
                <a:solidFill>
                  <a:schemeClr val="dk1"/>
                </a:solidFill>
                <a:latin typeface="Times New Roman"/>
                <a:ea typeface="Times New Roman"/>
                <a:cs typeface="Times New Roman"/>
                <a:sym typeface="Times New Roman"/>
              </a:rPr>
              <a:t> The central line in each box (median price) is remarkably consistent across different variables.</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1500">
                <a:solidFill>
                  <a:schemeClr val="dk1"/>
                </a:solidFill>
                <a:latin typeface="Times New Roman"/>
                <a:ea typeface="Times New Roman"/>
                <a:cs typeface="Times New Roman"/>
                <a:sym typeface="Times New Roman"/>
              </a:rPr>
              <a:t>3) Overlapping Ranges: </a:t>
            </a:r>
            <a:r>
              <a:rPr lang="en" sz="1500">
                <a:solidFill>
                  <a:schemeClr val="dk1"/>
                </a:solidFill>
                <a:latin typeface="Times New Roman"/>
                <a:ea typeface="Times New Roman"/>
                <a:cs typeface="Times New Roman"/>
                <a:sym typeface="Times New Roman"/>
              </a:rPr>
              <a:t>The interquartile ranges heavily overlap for almost all categories. This means there is no distinct significant influence on Price.</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1500">
                <a:solidFill>
                  <a:schemeClr val="dk1"/>
                </a:solidFill>
                <a:latin typeface="Times New Roman"/>
                <a:ea typeface="Times New Roman"/>
                <a:cs typeface="Times New Roman"/>
                <a:sym typeface="Times New Roman"/>
              </a:rPr>
              <a:t>4) High Variability Within Groups:</a:t>
            </a:r>
            <a:r>
              <a:rPr lang="en" sz="1500">
                <a:solidFill>
                  <a:schemeClr val="dk1"/>
                </a:solidFill>
                <a:latin typeface="Times New Roman"/>
                <a:ea typeface="Times New Roman"/>
                <a:cs typeface="Times New Roman"/>
                <a:sym typeface="Times New Roman"/>
              </a:rPr>
              <a:t> For each category, the price range (from minimum to maximum) is extremely wide, referring that another, more influential factor is also causing this volatility.</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5) </a:t>
            </a:r>
            <a:r>
              <a:rPr b="1" lang="en" sz="1500">
                <a:solidFill>
                  <a:schemeClr val="dk1"/>
                </a:solidFill>
                <a:latin typeface="Times New Roman"/>
                <a:ea typeface="Times New Roman"/>
                <a:cs typeface="Times New Roman"/>
                <a:sym typeface="Times New Roman"/>
              </a:rPr>
              <a:t>No single factor </a:t>
            </a:r>
            <a:r>
              <a:rPr lang="en" sz="1500">
                <a:solidFill>
                  <a:schemeClr val="dk1"/>
                </a:solidFill>
                <a:latin typeface="Times New Roman"/>
                <a:ea typeface="Times New Roman"/>
                <a:cs typeface="Times New Roman"/>
                <a:sym typeface="Times New Roman"/>
              </a:rPr>
              <a:t>alone is a dominant price driver.</a:t>
            </a:r>
            <a:endParaRPr sz="15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500">
                <a:solidFill>
                  <a:schemeClr val="dk1"/>
                </a:solidFill>
                <a:latin typeface="Times New Roman"/>
                <a:ea typeface="Times New Roman"/>
                <a:cs typeface="Times New Roman"/>
                <a:sym typeface="Times New Roman"/>
              </a:rPr>
              <a:t>6) </a:t>
            </a:r>
            <a:r>
              <a:rPr b="1" lang="en" sz="1500">
                <a:solidFill>
                  <a:schemeClr val="dk1"/>
                </a:solidFill>
                <a:latin typeface="Times New Roman"/>
                <a:ea typeface="Times New Roman"/>
                <a:cs typeface="Times New Roman"/>
                <a:sym typeface="Times New Roman"/>
              </a:rPr>
              <a:t>The true price</a:t>
            </a:r>
            <a:r>
              <a:rPr lang="en" sz="1500">
                <a:solidFill>
                  <a:schemeClr val="dk1"/>
                </a:solidFill>
                <a:latin typeface="Times New Roman"/>
                <a:ea typeface="Times New Roman"/>
                <a:cs typeface="Times New Roman"/>
                <a:sym typeface="Times New Roman"/>
              </a:rPr>
              <a:t> is likely determined by combined of a new created features and interaction terms between bedrooms, bathrooms, floors, location, condition etc.</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08" name="Shape 108"/>
        <p:cNvGrpSpPr/>
        <p:nvPr/>
      </p:nvGrpSpPr>
      <p:grpSpPr>
        <a:xfrm>
          <a:off x="0" y="0"/>
          <a:ext cx="0" cy="0"/>
          <a:chOff x="0" y="0"/>
          <a:chExt cx="0" cy="0"/>
        </a:xfrm>
      </p:grpSpPr>
      <p:sp>
        <p:nvSpPr>
          <p:cNvPr id="109" name="Google Shape;109;p19"/>
          <p:cNvSpPr txBox="1"/>
          <p:nvPr>
            <p:ph type="title"/>
          </p:nvPr>
        </p:nvSpPr>
        <p:spPr>
          <a:xfrm>
            <a:off x="85175" y="70975"/>
            <a:ext cx="7203900" cy="36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20">
                <a:solidFill>
                  <a:srgbClr val="9900FF"/>
                </a:solidFill>
                <a:latin typeface="Source Code Pro ExtraBold"/>
                <a:ea typeface="Source Code Pro ExtraBold"/>
                <a:cs typeface="Source Code Pro ExtraBold"/>
                <a:sym typeface="Source Code Pro ExtraBold"/>
              </a:rPr>
              <a:t>Visualization 3:</a:t>
            </a:r>
            <a:r>
              <a:rPr lang="en" sz="1620">
                <a:latin typeface="Source Code Pro ExtraBold"/>
                <a:ea typeface="Source Code Pro ExtraBold"/>
                <a:cs typeface="Source Code Pro ExtraBold"/>
                <a:sym typeface="Source Code Pro ExtraBold"/>
              </a:rPr>
              <a:t> </a:t>
            </a:r>
            <a:r>
              <a:rPr lang="en" sz="1620">
                <a:latin typeface="Source Code Pro ExtraBold"/>
                <a:ea typeface="Source Code Pro ExtraBold"/>
                <a:cs typeface="Source Code Pro ExtraBold"/>
                <a:sym typeface="Source Code Pro ExtraBold"/>
              </a:rPr>
              <a:t>PieChart</a:t>
            </a:r>
            <a:r>
              <a:rPr lang="en" sz="1620">
                <a:latin typeface="Source Code Pro ExtraBold"/>
                <a:ea typeface="Source Code Pro ExtraBold"/>
                <a:cs typeface="Source Code Pro ExtraBold"/>
                <a:sym typeface="Source Code Pro ExtraBold"/>
              </a:rPr>
              <a:t> of  Categorical variables</a:t>
            </a:r>
            <a:r>
              <a:rPr lang="en" sz="1520">
                <a:latin typeface="Source Code Pro ExtraBold"/>
                <a:ea typeface="Source Code Pro ExtraBold"/>
                <a:cs typeface="Source Code Pro ExtraBold"/>
                <a:sym typeface="Source Code Pro ExtraBold"/>
              </a:rPr>
              <a:t> </a:t>
            </a:r>
            <a:endParaRPr b="0" sz="1520">
              <a:latin typeface="Source Code Pro ExtraBold"/>
              <a:ea typeface="Source Code Pro ExtraBold"/>
              <a:cs typeface="Source Code Pro ExtraBold"/>
              <a:sym typeface="Source Code Pro ExtraBold"/>
            </a:endParaRPr>
          </a:p>
        </p:txBody>
      </p:sp>
      <p:pic>
        <p:nvPicPr>
          <p:cNvPr id="110" name="Google Shape;110;p19"/>
          <p:cNvPicPr preferRelativeResize="0"/>
          <p:nvPr/>
        </p:nvPicPr>
        <p:blipFill>
          <a:blip r:embed="rId3">
            <a:alphaModFix/>
          </a:blip>
          <a:stretch>
            <a:fillRect/>
          </a:stretch>
        </p:blipFill>
        <p:spPr>
          <a:xfrm>
            <a:off x="7987100" y="0"/>
            <a:ext cx="1052825" cy="758375"/>
          </a:xfrm>
          <a:prstGeom prst="rect">
            <a:avLst/>
          </a:prstGeom>
          <a:noFill/>
          <a:ln>
            <a:noFill/>
          </a:ln>
        </p:spPr>
      </p:pic>
      <p:sp>
        <p:nvSpPr>
          <p:cNvPr id="111" name="Google Shape;111;p19"/>
          <p:cNvSpPr txBox="1"/>
          <p:nvPr/>
        </p:nvSpPr>
        <p:spPr>
          <a:xfrm>
            <a:off x="0" y="482625"/>
            <a:ext cx="3151800" cy="4554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dk1"/>
                </a:solidFill>
                <a:highlight>
                  <a:schemeClr val="accent4"/>
                </a:highlight>
              </a:rPr>
              <a:t>1)The pie charts illustrate an overview of the distribution of each categorical variable in the dataset. </a:t>
            </a:r>
            <a:endParaRPr sz="1300">
              <a:solidFill>
                <a:schemeClr val="dk1"/>
              </a:solidFill>
              <a:highlight>
                <a:schemeClr val="accent4"/>
              </a:highlight>
            </a:endParaRPr>
          </a:p>
          <a:p>
            <a:pPr indent="0" lvl="0" marL="0" rtl="0" algn="l">
              <a:lnSpc>
                <a:spcPct val="115000"/>
              </a:lnSpc>
              <a:spcBef>
                <a:spcPts val="1200"/>
              </a:spcBef>
              <a:spcAft>
                <a:spcPts val="0"/>
              </a:spcAft>
              <a:buNone/>
            </a:pPr>
            <a:r>
              <a:rPr lang="en" sz="1300">
                <a:solidFill>
                  <a:schemeClr val="dk1"/>
                </a:solidFill>
                <a:highlight>
                  <a:schemeClr val="accent4"/>
                </a:highlight>
              </a:rPr>
              <a:t>2)Piechart shows the dataset is well-balanced and representative across the categorical features, providing a solid foundation for analysis.</a:t>
            </a:r>
            <a:endParaRPr sz="1300">
              <a:solidFill>
                <a:schemeClr val="dk1"/>
              </a:solidFill>
              <a:highlight>
                <a:schemeClr val="accent4"/>
              </a:highlight>
            </a:endParaRPr>
          </a:p>
          <a:p>
            <a:pPr indent="0" lvl="0" marL="0" rtl="0" algn="l">
              <a:lnSpc>
                <a:spcPct val="115000"/>
              </a:lnSpc>
              <a:spcBef>
                <a:spcPts val="1200"/>
              </a:spcBef>
              <a:spcAft>
                <a:spcPts val="0"/>
              </a:spcAft>
              <a:buNone/>
            </a:pPr>
            <a:r>
              <a:rPr lang="en" sz="1300">
                <a:solidFill>
                  <a:schemeClr val="dk1"/>
                </a:solidFill>
                <a:highlight>
                  <a:schemeClr val="accent4"/>
                </a:highlight>
              </a:rPr>
              <a:t>3) Bedrooms, Bathrooms, &amp; Floors show moderate variation.</a:t>
            </a:r>
            <a:endParaRPr sz="1300">
              <a:solidFill>
                <a:schemeClr val="dk1"/>
              </a:solidFill>
              <a:highlight>
                <a:schemeClr val="accent4"/>
              </a:highlight>
            </a:endParaRPr>
          </a:p>
          <a:p>
            <a:pPr indent="0" lvl="0" marL="0" rtl="0" algn="l">
              <a:lnSpc>
                <a:spcPct val="115000"/>
              </a:lnSpc>
              <a:spcBef>
                <a:spcPts val="1200"/>
              </a:spcBef>
              <a:spcAft>
                <a:spcPts val="0"/>
              </a:spcAft>
              <a:buNone/>
            </a:pPr>
            <a:r>
              <a:rPr lang="en" sz="1300">
                <a:solidFill>
                  <a:schemeClr val="dk1"/>
                </a:solidFill>
                <a:highlight>
                  <a:schemeClr val="accent4"/>
                </a:highlight>
              </a:rPr>
              <a:t>4) Garage Avaiability: A nearly perfect 50%-50% split between properties with and without a garage.</a:t>
            </a:r>
            <a:endParaRPr sz="1300">
              <a:solidFill>
                <a:schemeClr val="dk1"/>
              </a:solidFill>
              <a:highlight>
                <a:schemeClr val="accent4"/>
              </a:highlight>
            </a:endParaRPr>
          </a:p>
          <a:p>
            <a:pPr indent="0" lvl="0" marL="0" rtl="0" algn="l">
              <a:lnSpc>
                <a:spcPct val="115000"/>
              </a:lnSpc>
              <a:spcBef>
                <a:spcPts val="1200"/>
              </a:spcBef>
              <a:spcAft>
                <a:spcPts val="1200"/>
              </a:spcAft>
              <a:buNone/>
            </a:pPr>
            <a:r>
              <a:rPr lang="en" sz="1300">
                <a:solidFill>
                  <a:schemeClr val="dk1"/>
                </a:solidFill>
                <a:highlight>
                  <a:schemeClr val="accent4"/>
                </a:highlight>
              </a:rPr>
              <a:t>5)No Major Skews: There are no extreme imbalances in any single category.</a:t>
            </a:r>
            <a:endParaRPr sz="1300">
              <a:solidFill>
                <a:schemeClr val="dk1"/>
              </a:solidFill>
              <a:highlight>
                <a:schemeClr val="accent4"/>
              </a:highlight>
            </a:endParaRPr>
          </a:p>
        </p:txBody>
      </p:sp>
      <p:pic>
        <p:nvPicPr>
          <p:cNvPr id="112" name="Google Shape;112;p19" title="piechart(1cat).png"/>
          <p:cNvPicPr preferRelativeResize="0"/>
          <p:nvPr/>
        </p:nvPicPr>
        <p:blipFill>
          <a:blip r:embed="rId4">
            <a:alphaModFix/>
          </a:blip>
          <a:stretch>
            <a:fillRect/>
          </a:stretch>
        </p:blipFill>
        <p:spPr>
          <a:xfrm>
            <a:off x="3151825" y="824525"/>
            <a:ext cx="5888101" cy="41615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16" name="Shape 116"/>
        <p:cNvGrpSpPr/>
        <p:nvPr/>
      </p:nvGrpSpPr>
      <p:grpSpPr>
        <a:xfrm>
          <a:off x="0" y="0"/>
          <a:ext cx="0" cy="0"/>
          <a:chOff x="0" y="0"/>
          <a:chExt cx="0" cy="0"/>
        </a:xfrm>
      </p:grpSpPr>
      <p:sp>
        <p:nvSpPr>
          <p:cNvPr id="117" name="Google Shape;117;p20"/>
          <p:cNvSpPr txBox="1"/>
          <p:nvPr>
            <p:ph type="title"/>
          </p:nvPr>
        </p:nvSpPr>
        <p:spPr>
          <a:xfrm>
            <a:off x="85175" y="70975"/>
            <a:ext cx="5547900" cy="53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920">
                <a:solidFill>
                  <a:srgbClr val="9900FF"/>
                </a:solidFill>
                <a:latin typeface="Source Code Pro ExtraBold"/>
                <a:ea typeface="Source Code Pro ExtraBold"/>
                <a:cs typeface="Source Code Pro ExtraBold"/>
                <a:sym typeface="Source Code Pro ExtraBold"/>
              </a:rPr>
              <a:t>Visualization 4:</a:t>
            </a:r>
            <a:r>
              <a:rPr lang="en" sz="1920">
                <a:latin typeface="Source Code Pro ExtraBold"/>
                <a:ea typeface="Source Code Pro ExtraBold"/>
                <a:cs typeface="Source Code Pro ExtraBold"/>
                <a:sym typeface="Source Code Pro ExtraBold"/>
              </a:rPr>
              <a:t> Histogram of Price</a:t>
            </a:r>
            <a:r>
              <a:rPr lang="en" sz="1720">
                <a:latin typeface="Source Code Pro ExtraBold"/>
                <a:ea typeface="Source Code Pro ExtraBold"/>
                <a:cs typeface="Source Code Pro ExtraBold"/>
                <a:sym typeface="Source Code Pro ExtraBold"/>
              </a:rPr>
              <a:t> </a:t>
            </a:r>
            <a:endParaRPr b="0" sz="1720">
              <a:latin typeface="Source Code Pro ExtraBold"/>
              <a:ea typeface="Source Code Pro ExtraBold"/>
              <a:cs typeface="Source Code Pro ExtraBold"/>
              <a:sym typeface="Source Code Pro ExtraBold"/>
            </a:endParaRPr>
          </a:p>
        </p:txBody>
      </p:sp>
      <p:pic>
        <p:nvPicPr>
          <p:cNvPr id="118" name="Google Shape;118;p20"/>
          <p:cNvPicPr preferRelativeResize="0"/>
          <p:nvPr/>
        </p:nvPicPr>
        <p:blipFill>
          <a:blip r:embed="rId3">
            <a:alphaModFix/>
          </a:blip>
          <a:stretch>
            <a:fillRect/>
          </a:stretch>
        </p:blipFill>
        <p:spPr>
          <a:xfrm>
            <a:off x="7987100" y="0"/>
            <a:ext cx="1052825" cy="758375"/>
          </a:xfrm>
          <a:prstGeom prst="rect">
            <a:avLst/>
          </a:prstGeom>
          <a:noFill/>
          <a:ln>
            <a:noFill/>
          </a:ln>
        </p:spPr>
      </p:pic>
      <p:sp>
        <p:nvSpPr>
          <p:cNvPr id="119" name="Google Shape;119;p20"/>
          <p:cNvSpPr txBox="1"/>
          <p:nvPr/>
        </p:nvSpPr>
        <p:spPr>
          <a:xfrm>
            <a:off x="194850" y="3459975"/>
            <a:ext cx="8734800" cy="155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dk1"/>
                </a:solidFill>
                <a:highlight>
                  <a:schemeClr val="accent4"/>
                </a:highlight>
              </a:rPr>
              <a:t>1) </a:t>
            </a:r>
            <a:r>
              <a:rPr lang="en" sz="1300">
                <a:solidFill>
                  <a:schemeClr val="dk1"/>
                </a:solidFill>
                <a:highlight>
                  <a:schemeClr val="accent4"/>
                </a:highlight>
              </a:rPr>
              <a:t>The distribution of home Price is fairly uniform across the full range ( from budget-friendly to premium luxury), with a slight linear trend.</a:t>
            </a:r>
            <a:endParaRPr sz="1300">
              <a:solidFill>
                <a:schemeClr val="dk1"/>
              </a:solidFill>
              <a:highlight>
                <a:schemeClr val="accent4"/>
              </a:highlight>
            </a:endParaRPr>
          </a:p>
          <a:p>
            <a:pPr indent="0" lvl="0" marL="0" rtl="0" algn="l">
              <a:lnSpc>
                <a:spcPct val="115000"/>
              </a:lnSpc>
              <a:spcBef>
                <a:spcPts val="1200"/>
              </a:spcBef>
              <a:spcAft>
                <a:spcPts val="0"/>
              </a:spcAft>
              <a:buNone/>
            </a:pPr>
            <a:r>
              <a:rPr lang="en" sz="1300">
                <a:solidFill>
                  <a:schemeClr val="dk1"/>
                </a:solidFill>
                <a:highlight>
                  <a:schemeClr val="accent4"/>
                </a:highlight>
              </a:rPr>
              <a:t>2) No Normal Distribution: Unlike many markets, house prices in this dataset are not clustered around the central tendency, so it is not a `bell curve`.</a:t>
            </a:r>
            <a:endParaRPr sz="1300">
              <a:solidFill>
                <a:schemeClr val="dk1"/>
              </a:solidFill>
              <a:highlight>
                <a:schemeClr val="accent4"/>
              </a:highlight>
            </a:endParaRPr>
          </a:p>
          <a:p>
            <a:pPr indent="0" lvl="0" marL="0" rtl="0" algn="l">
              <a:lnSpc>
                <a:spcPct val="115000"/>
              </a:lnSpc>
              <a:spcBef>
                <a:spcPts val="1200"/>
              </a:spcBef>
              <a:spcAft>
                <a:spcPts val="1200"/>
              </a:spcAft>
              <a:buNone/>
            </a:pPr>
            <a:r>
              <a:t/>
            </a:r>
            <a:endParaRPr sz="1300">
              <a:solidFill>
                <a:schemeClr val="dk1"/>
              </a:solidFill>
              <a:highlight>
                <a:schemeClr val="accent4"/>
              </a:highlight>
            </a:endParaRPr>
          </a:p>
        </p:txBody>
      </p:sp>
      <p:pic>
        <p:nvPicPr>
          <p:cNvPr id="120" name="Google Shape;120;p20" title="histogram(price).png"/>
          <p:cNvPicPr preferRelativeResize="0"/>
          <p:nvPr/>
        </p:nvPicPr>
        <p:blipFill>
          <a:blip r:embed="rId4">
            <a:alphaModFix/>
          </a:blip>
          <a:stretch>
            <a:fillRect/>
          </a:stretch>
        </p:blipFill>
        <p:spPr>
          <a:xfrm>
            <a:off x="395225" y="865225"/>
            <a:ext cx="7435575" cy="2436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268875" y="222400"/>
            <a:ext cx="5171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720">
                <a:latin typeface="Source Code Pro ExtraBold"/>
                <a:ea typeface="Source Code Pro ExtraBold"/>
                <a:cs typeface="Source Code Pro ExtraBold"/>
                <a:sym typeface="Source Code Pro ExtraBold"/>
              </a:rPr>
              <a:t>Best </a:t>
            </a:r>
            <a:r>
              <a:rPr lang="en" sz="2720">
                <a:latin typeface="Source Code Pro ExtraBold"/>
                <a:ea typeface="Source Code Pro ExtraBold"/>
                <a:cs typeface="Source Code Pro ExtraBold"/>
                <a:sym typeface="Source Code Pro ExtraBold"/>
              </a:rPr>
              <a:t>PERFORMANCE Model:</a:t>
            </a:r>
            <a:endParaRPr sz="2720">
              <a:latin typeface="Source Code Pro ExtraBold"/>
              <a:ea typeface="Source Code Pro ExtraBold"/>
              <a:cs typeface="Source Code Pro ExtraBold"/>
              <a:sym typeface="Source Code Pro ExtraBold"/>
            </a:endParaRPr>
          </a:p>
        </p:txBody>
      </p:sp>
      <p:sp>
        <p:nvSpPr>
          <p:cNvPr id="126" name="Google Shape;126;p21"/>
          <p:cNvSpPr txBox="1"/>
          <p:nvPr/>
        </p:nvSpPr>
        <p:spPr>
          <a:xfrm>
            <a:off x="268875" y="2657850"/>
            <a:ext cx="8751600" cy="2367900"/>
          </a:xfrm>
          <a:prstGeom prst="rect">
            <a:avLst/>
          </a:prstGeom>
          <a:solidFill>
            <a:schemeClr val="accent4"/>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50">
                <a:solidFill>
                  <a:schemeClr val="dk1"/>
                </a:solidFill>
              </a:rPr>
              <a:t>While all models performed poorly, </a:t>
            </a:r>
            <a:r>
              <a:rPr b="1" lang="en" sz="1250">
                <a:solidFill>
                  <a:schemeClr val="dk1"/>
                </a:solidFill>
              </a:rPr>
              <a:t>Elastic Net</a:t>
            </a:r>
            <a:r>
              <a:rPr lang="en" sz="1250">
                <a:solidFill>
                  <a:schemeClr val="dk1"/>
                </a:solidFill>
              </a:rPr>
              <a:t> is chosen as the best model based on the following: </a:t>
            </a:r>
            <a:endParaRPr sz="1250">
              <a:solidFill>
                <a:schemeClr val="dk1"/>
              </a:solidFill>
            </a:endParaRPr>
          </a:p>
          <a:p>
            <a:pPr indent="0" lvl="0" marL="0" rtl="0" algn="l">
              <a:lnSpc>
                <a:spcPct val="115000"/>
              </a:lnSpc>
              <a:spcBef>
                <a:spcPts val="0"/>
              </a:spcBef>
              <a:spcAft>
                <a:spcPts val="0"/>
              </a:spcAft>
              <a:buNone/>
            </a:pPr>
            <a:r>
              <a:rPr lang="en" sz="1250">
                <a:solidFill>
                  <a:schemeClr val="dk1"/>
                </a:solidFill>
              </a:rPr>
              <a:t>1) </a:t>
            </a:r>
            <a:r>
              <a:rPr lang="en" sz="1250">
                <a:solidFill>
                  <a:schemeClr val="dk1"/>
                </a:solidFill>
              </a:rPr>
              <a:t>The Elastic Net model has the lowest </a:t>
            </a:r>
            <a:r>
              <a:rPr b="1" lang="en" sz="1250">
                <a:solidFill>
                  <a:schemeClr val="dk1"/>
                </a:solidFill>
              </a:rPr>
              <a:t>RMSE</a:t>
            </a:r>
            <a:r>
              <a:rPr lang="en" sz="1250">
                <a:solidFill>
                  <a:schemeClr val="dk1"/>
                </a:solidFill>
              </a:rPr>
              <a:t> and </a:t>
            </a:r>
            <a:r>
              <a:rPr b="1" lang="en" sz="1250">
                <a:solidFill>
                  <a:schemeClr val="dk1"/>
                </a:solidFill>
              </a:rPr>
              <a:t>MAE</a:t>
            </a:r>
            <a:r>
              <a:rPr lang="en" sz="1250">
                <a:solidFill>
                  <a:schemeClr val="dk1"/>
                </a:solidFill>
              </a:rPr>
              <a:t> in the comparison table, while also handling multicollinearity and selecting useful features automatically.</a:t>
            </a:r>
            <a:endParaRPr sz="1250">
              <a:solidFill>
                <a:schemeClr val="dk1"/>
              </a:solidFill>
            </a:endParaRPr>
          </a:p>
          <a:p>
            <a:pPr indent="0" lvl="0" marL="0" rtl="0" algn="l">
              <a:lnSpc>
                <a:spcPct val="115000"/>
              </a:lnSpc>
              <a:spcBef>
                <a:spcPts val="0"/>
              </a:spcBef>
              <a:spcAft>
                <a:spcPts val="0"/>
              </a:spcAft>
              <a:buNone/>
            </a:pPr>
            <a:r>
              <a:rPr lang="en" sz="1250">
                <a:solidFill>
                  <a:schemeClr val="dk1"/>
                </a:solidFill>
              </a:rPr>
              <a:t>2)Its structure is close to a linear model, which makes its coefficients easier to interpret compared with more complex models.</a:t>
            </a:r>
            <a:endParaRPr sz="1250">
              <a:solidFill>
                <a:schemeClr val="dk1"/>
              </a:solidFill>
            </a:endParaRPr>
          </a:p>
          <a:p>
            <a:pPr indent="0" lvl="0" marL="0" rtl="0" algn="l">
              <a:lnSpc>
                <a:spcPct val="115000"/>
              </a:lnSpc>
              <a:spcBef>
                <a:spcPts val="0"/>
              </a:spcBef>
              <a:spcAft>
                <a:spcPts val="0"/>
              </a:spcAft>
              <a:buNone/>
            </a:pPr>
            <a:r>
              <a:rPr lang="en" sz="1250">
                <a:solidFill>
                  <a:schemeClr val="dk1"/>
                </a:solidFill>
              </a:rPr>
              <a:t>3)Although its improvement over </a:t>
            </a:r>
            <a:r>
              <a:rPr b="1" lang="en" sz="1250">
                <a:solidFill>
                  <a:schemeClr val="dk1"/>
                </a:solidFill>
              </a:rPr>
              <a:t>LASSO </a:t>
            </a:r>
            <a:r>
              <a:rPr lang="en" sz="1250">
                <a:solidFill>
                  <a:schemeClr val="dk1"/>
                </a:solidFill>
              </a:rPr>
              <a:t>and </a:t>
            </a:r>
            <a:r>
              <a:rPr b="1" lang="en" sz="1250">
                <a:solidFill>
                  <a:schemeClr val="dk1"/>
                </a:solidFill>
              </a:rPr>
              <a:t>Ridge</a:t>
            </a:r>
            <a:r>
              <a:rPr lang="en" sz="1250">
                <a:solidFill>
                  <a:schemeClr val="dk1"/>
                </a:solidFill>
              </a:rPr>
              <a:t> is small, </a:t>
            </a:r>
            <a:r>
              <a:rPr b="1" lang="en" sz="1250">
                <a:solidFill>
                  <a:schemeClr val="dk1"/>
                </a:solidFill>
              </a:rPr>
              <a:t>Elastic Net </a:t>
            </a:r>
            <a:r>
              <a:rPr lang="en" sz="1250">
                <a:solidFill>
                  <a:schemeClr val="dk1"/>
                </a:solidFill>
              </a:rPr>
              <a:t>offers a good middle ground between the two methods.And it provides a robust approach that handles correlated variables better </a:t>
            </a:r>
            <a:r>
              <a:rPr lang="en" sz="1250">
                <a:solidFill>
                  <a:schemeClr val="dk1"/>
                </a:solidFill>
              </a:rPr>
              <a:t>than</a:t>
            </a:r>
            <a:r>
              <a:rPr lang="en" sz="1250">
                <a:solidFill>
                  <a:schemeClr val="dk1"/>
                </a:solidFill>
              </a:rPr>
              <a:t> </a:t>
            </a:r>
            <a:r>
              <a:rPr lang="en" sz="1250">
                <a:solidFill>
                  <a:schemeClr val="dk1"/>
                </a:solidFill>
              </a:rPr>
              <a:t>either</a:t>
            </a:r>
            <a:r>
              <a:rPr lang="en" sz="1250">
                <a:solidFill>
                  <a:schemeClr val="dk1"/>
                </a:solidFill>
              </a:rPr>
              <a:t> one alone.</a:t>
            </a:r>
            <a:endParaRPr sz="1250">
              <a:solidFill>
                <a:schemeClr val="dk1"/>
              </a:solidFill>
            </a:endParaRPr>
          </a:p>
          <a:p>
            <a:pPr indent="0" lvl="0" marL="0" rtl="0" algn="l">
              <a:lnSpc>
                <a:spcPct val="115000"/>
              </a:lnSpc>
              <a:spcBef>
                <a:spcPts val="0"/>
              </a:spcBef>
              <a:spcAft>
                <a:spcPts val="0"/>
              </a:spcAft>
              <a:buNone/>
            </a:pPr>
            <a:r>
              <a:rPr lang="en" sz="1250">
                <a:solidFill>
                  <a:schemeClr val="dk1"/>
                </a:solidFill>
              </a:rPr>
              <a:t>Conclusion:</a:t>
            </a:r>
            <a:endParaRPr sz="12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50">
                <a:solidFill>
                  <a:schemeClr val="dk1"/>
                </a:solidFill>
              </a:rPr>
              <a:t>For these reasons, Elastic Net is chosen as the "best" model. However, the very low </a:t>
            </a:r>
            <a:r>
              <a:rPr b="1" lang="en" sz="1250">
                <a:solidFill>
                  <a:schemeClr val="dk1"/>
                </a:solidFill>
              </a:rPr>
              <a:t>R²</a:t>
            </a:r>
            <a:r>
              <a:rPr lang="en" sz="1250">
                <a:solidFill>
                  <a:schemeClr val="dk1"/>
                </a:solidFill>
              </a:rPr>
              <a:t> and relatively high errors show that the model has limited ability to explain or predict housing prices in this dataset.</a:t>
            </a:r>
            <a:endParaRPr sz="1250">
              <a:solidFill>
                <a:schemeClr val="dk1"/>
              </a:solidFill>
            </a:endParaRPr>
          </a:p>
          <a:p>
            <a:pPr indent="0" lvl="0" marL="0" rtl="0" algn="l">
              <a:spcBef>
                <a:spcPts val="0"/>
              </a:spcBef>
              <a:spcAft>
                <a:spcPts val="0"/>
              </a:spcAft>
              <a:buNone/>
            </a:pPr>
            <a:r>
              <a:t/>
            </a:r>
            <a:endParaRPr sz="1250">
              <a:solidFill>
                <a:schemeClr val="lt1"/>
              </a:solidFill>
            </a:endParaRPr>
          </a:p>
        </p:txBody>
      </p:sp>
      <p:pic>
        <p:nvPicPr>
          <p:cNvPr id="127" name="Google Shape;127;p21"/>
          <p:cNvPicPr preferRelativeResize="0"/>
          <p:nvPr/>
        </p:nvPicPr>
        <p:blipFill>
          <a:blip r:embed="rId3">
            <a:alphaModFix/>
          </a:blip>
          <a:stretch>
            <a:fillRect/>
          </a:stretch>
        </p:blipFill>
        <p:spPr>
          <a:xfrm>
            <a:off x="7007125" y="222399"/>
            <a:ext cx="1865975" cy="1865975"/>
          </a:xfrm>
          <a:prstGeom prst="rect">
            <a:avLst/>
          </a:prstGeom>
          <a:noFill/>
          <a:ln>
            <a:noFill/>
          </a:ln>
        </p:spPr>
      </p:pic>
      <p:pic>
        <p:nvPicPr>
          <p:cNvPr id="128" name="Google Shape;128;p21" title="model lists.png"/>
          <p:cNvPicPr preferRelativeResize="0"/>
          <p:nvPr/>
        </p:nvPicPr>
        <p:blipFill>
          <a:blip r:embed="rId4">
            <a:alphaModFix/>
          </a:blip>
          <a:stretch>
            <a:fillRect/>
          </a:stretch>
        </p:blipFill>
        <p:spPr>
          <a:xfrm>
            <a:off x="957900" y="725075"/>
            <a:ext cx="4667450" cy="1788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32" name="Shape 132"/>
        <p:cNvGrpSpPr/>
        <p:nvPr/>
      </p:nvGrpSpPr>
      <p:grpSpPr>
        <a:xfrm>
          <a:off x="0" y="0"/>
          <a:ext cx="0" cy="0"/>
          <a:chOff x="0" y="0"/>
          <a:chExt cx="0" cy="0"/>
        </a:xfrm>
      </p:grpSpPr>
      <p:sp>
        <p:nvSpPr>
          <p:cNvPr id="133" name="Google Shape;133;p22"/>
          <p:cNvSpPr txBox="1"/>
          <p:nvPr>
            <p:ph type="title"/>
          </p:nvPr>
        </p:nvSpPr>
        <p:spPr>
          <a:xfrm>
            <a:off x="398775" y="171775"/>
            <a:ext cx="5506200" cy="83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 sz="4620">
                <a:latin typeface="Source Code Pro ExtraBold"/>
                <a:ea typeface="Source Code Pro ExtraBold"/>
                <a:cs typeface="Source Code Pro ExtraBold"/>
                <a:sym typeface="Source Code Pro ExtraBold"/>
              </a:rPr>
              <a:t>Recommendation:</a:t>
            </a:r>
            <a:endParaRPr b="0" sz="4620">
              <a:latin typeface="Source Code Pro ExtraBold"/>
              <a:ea typeface="Source Code Pro ExtraBold"/>
              <a:cs typeface="Source Code Pro ExtraBold"/>
              <a:sym typeface="Source Code Pro ExtraBold"/>
            </a:endParaRPr>
          </a:p>
        </p:txBody>
      </p:sp>
      <p:sp>
        <p:nvSpPr>
          <p:cNvPr id="134" name="Google Shape;134;p22"/>
          <p:cNvSpPr txBox="1"/>
          <p:nvPr>
            <p:ph idx="1" type="body"/>
          </p:nvPr>
        </p:nvSpPr>
        <p:spPr>
          <a:xfrm>
            <a:off x="138225" y="1071750"/>
            <a:ext cx="8819700" cy="381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rPr>
              <a:t>1)</a:t>
            </a:r>
            <a:r>
              <a:rPr b="1" lang="en" sz="1500">
                <a:solidFill>
                  <a:schemeClr val="dk1"/>
                </a:solidFill>
              </a:rPr>
              <a:t>Prioritize Data Enrichment:</a:t>
            </a:r>
            <a:r>
              <a:rPr b="1" lang="en" sz="1400">
                <a:solidFill>
                  <a:schemeClr val="dk1"/>
                </a:solidFill>
              </a:rPr>
              <a:t> </a:t>
            </a:r>
            <a:r>
              <a:rPr lang="en" sz="1400">
                <a:solidFill>
                  <a:schemeClr val="dk1"/>
                </a:solidFill>
              </a:rPr>
              <a:t>The available predictors do not capture the key factors that drive house price in the market. Important features are absent such as location Quality (eg: school district rating, crime rates, neighborhood attributes etc.), Property Attributes (eg: lot size, renovation year, architectural style etc.), market conditions etc.</a:t>
            </a:r>
            <a:endParaRPr sz="1400">
              <a:solidFill>
                <a:schemeClr val="dk1"/>
              </a:solidFill>
            </a:endParaRPr>
          </a:p>
          <a:p>
            <a:pPr indent="0" lvl="0" marL="0" rtl="0" algn="l">
              <a:spcBef>
                <a:spcPts val="1200"/>
              </a:spcBef>
              <a:spcAft>
                <a:spcPts val="0"/>
              </a:spcAft>
              <a:buNone/>
            </a:pPr>
            <a:r>
              <a:rPr b="1" lang="en" sz="1400">
                <a:solidFill>
                  <a:schemeClr val="dk1"/>
                </a:solidFill>
              </a:rPr>
              <a:t>2)Dataset Simulated:</a:t>
            </a:r>
            <a:r>
              <a:rPr lang="en" sz="1400">
                <a:solidFill>
                  <a:schemeClr val="dk1"/>
                </a:solidFill>
              </a:rPr>
              <a:t> The weak relationships between Price and the predictors, observed both in the exploratory analysis and in the models’ low R² values, suggest that the dataset may be simulated. Also, the relationship is not linear or some important predictors are missing (eg lot size, neighborhood rating, renovations e.t.c.).</a:t>
            </a:r>
            <a:endParaRPr sz="1400">
              <a:solidFill>
                <a:schemeClr val="dk1"/>
              </a:solidFill>
            </a:endParaRPr>
          </a:p>
          <a:p>
            <a:pPr indent="0" lvl="0" marL="0" rtl="0" algn="l">
              <a:spcBef>
                <a:spcPts val="1200"/>
              </a:spcBef>
              <a:spcAft>
                <a:spcPts val="0"/>
              </a:spcAft>
              <a:buNone/>
            </a:pPr>
            <a:r>
              <a:rPr b="1" lang="en" sz="1400">
                <a:solidFill>
                  <a:schemeClr val="dk1"/>
                </a:solidFill>
              </a:rPr>
              <a:t>3)Manage Stakeholder Expectations:</a:t>
            </a:r>
            <a:r>
              <a:rPr lang="en" sz="1400">
                <a:solidFill>
                  <a:schemeClr val="dk1"/>
                </a:solidFill>
              </a:rPr>
              <a:t>Clearly communicate with skakeholder that the very low R² and relatively high errors show that the model has limited ability to explain or predict housing prices in this dataset.</a:t>
            </a:r>
            <a:endParaRPr sz="1400">
              <a:solidFill>
                <a:schemeClr val="dk1"/>
              </a:solidFill>
            </a:endParaRPr>
          </a:p>
          <a:p>
            <a:pPr indent="0" lvl="0" marL="0" rtl="0" algn="l">
              <a:spcBef>
                <a:spcPts val="1200"/>
              </a:spcBef>
              <a:spcAft>
                <a:spcPts val="0"/>
              </a:spcAft>
              <a:buNone/>
            </a:pPr>
            <a:r>
              <a:rPr b="1" lang="en" sz="1400">
                <a:solidFill>
                  <a:schemeClr val="dk1"/>
                </a:solidFill>
              </a:rPr>
              <a:t>4) Implement a Feedback Mechanism: </a:t>
            </a:r>
            <a:r>
              <a:rPr lang="en" sz="1400">
                <a:solidFill>
                  <a:schemeClr val="dk1"/>
                </a:solidFill>
              </a:rPr>
              <a:t>Using new data to </a:t>
            </a:r>
            <a:r>
              <a:rPr lang="en" sz="1400">
                <a:solidFill>
                  <a:schemeClr val="dk1"/>
                </a:solidFill>
              </a:rPr>
              <a:t>iteratively</a:t>
            </a:r>
            <a:r>
              <a:rPr lang="en" sz="1400">
                <a:solidFill>
                  <a:schemeClr val="dk1"/>
                </a:solidFill>
              </a:rPr>
              <a:t> retrain and improve the </a:t>
            </a:r>
            <a:r>
              <a:rPr lang="en" sz="1400">
                <a:solidFill>
                  <a:schemeClr val="dk1"/>
                </a:solidFill>
              </a:rPr>
              <a:t>model</a:t>
            </a:r>
            <a:r>
              <a:rPr lang="en" sz="1400">
                <a:solidFill>
                  <a:schemeClr val="dk1"/>
                </a:solidFill>
              </a:rPr>
              <a:t> over time.</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pic>
        <p:nvPicPr>
          <p:cNvPr id="135" name="Google Shape;135;p22"/>
          <p:cNvPicPr preferRelativeResize="0"/>
          <p:nvPr/>
        </p:nvPicPr>
        <p:blipFill>
          <a:blip r:embed="rId3">
            <a:alphaModFix/>
          </a:blip>
          <a:stretch>
            <a:fillRect/>
          </a:stretch>
        </p:blipFill>
        <p:spPr>
          <a:xfrm>
            <a:off x="7922461" y="0"/>
            <a:ext cx="1160838" cy="1003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39" name="Shape 139"/>
        <p:cNvGrpSpPr/>
        <p:nvPr/>
      </p:nvGrpSpPr>
      <p:grpSpPr>
        <a:xfrm>
          <a:off x="0" y="0"/>
          <a:ext cx="0" cy="0"/>
          <a:chOff x="0" y="0"/>
          <a:chExt cx="0" cy="0"/>
        </a:xfrm>
      </p:grpSpPr>
      <p:sp>
        <p:nvSpPr>
          <p:cNvPr id="140" name="Google Shape;140;p23"/>
          <p:cNvSpPr txBox="1"/>
          <p:nvPr>
            <p:ph type="title"/>
          </p:nvPr>
        </p:nvSpPr>
        <p:spPr>
          <a:xfrm>
            <a:off x="509900" y="396150"/>
            <a:ext cx="5961300" cy="180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5700">
                <a:solidFill>
                  <a:srgbClr val="6AA84F"/>
                </a:solidFill>
                <a:latin typeface="Source Code Pro ExtraBold"/>
                <a:ea typeface="Source Code Pro ExtraBold"/>
                <a:cs typeface="Source Code Pro ExtraBold"/>
                <a:sym typeface="Source Code Pro ExtraBold"/>
              </a:rPr>
              <a:t>Conclusions:</a:t>
            </a:r>
            <a:endParaRPr b="0" sz="5700">
              <a:solidFill>
                <a:srgbClr val="6AA84F"/>
              </a:solidFill>
              <a:latin typeface="Source Code Pro ExtraBold"/>
              <a:ea typeface="Source Code Pro ExtraBold"/>
              <a:cs typeface="Source Code Pro ExtraBold"/>
              <a:sym typeface="Source Code Pro ExtraBold"/>
            </a:endParaRPr>
          </a:p>
        </p:txBody>
      </p:sp>
      <p:sp>
        <p:nvSpPr>
          <p:cNvPr id="141" name="Google Shape;141;p23"/>
          <p:cNvSpPr txBox="1"/>
          <p:nvPr>
            <p:ph idx="1" type="body"/>
          </p:nvPr>
        </p:nvSpPr>
        <p:spPr>
          <a:xfrm>
            <a:off x="303900" y="2656000"/>
            <a:ext cx="8546700" cy="1293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700">
                <a:solidFill>
                  <a:schemeClr val="dk1"/>
                </a:solidFill>
                <a:latin typeface="Times New Roman"/>
                <a:ea typeface="Times New Roman"/>
                <a:cs typeface="Times New Roman"/>
                <a:sym typeface="Times New Roman"/>
              </a:rPr>
              <a:t>Although Elastic Net is reported as the selected model, the broader conclusion is that this dataset is not suitable for accurate house price prediction. Practical use would require collecting more informative variables or revisiting how the data were generated to ensure that realistic price–feature relationships exist.</a:t>
            </a:r>
            <a:endParaRPr b="1" sz="1700">
              <a:solidFill>
                <a:schemeClr val="dk1"/>
              </a:solidFill>
              <a:latin typeface="Times New Roman"/>
              <a:ea typeface="Times New Roman"/>
              <a:cs typeface="Times New Roman"/>
              <a:sym typeface="Times New Roman"/>
            </a:endParaRPr>
          </a:p>
          <a:p>
            <a:pPr indent="0" lvl="0" marL="457200" rtl="0" algn="l">
              <a:spcBef>
                <a:spcPts val="1200"/>
              </a:spcBef>
              <a:spcAft>
                <a:spcPts val="1200"/>
              </a:spcAft>
              <a:buNone/>
            </a:pPr>
            <a:r>
              <a:t/>
            </a:r>
            <a:endParaRPr b="1" sz="2000">
              <a:solidFill>
                <a:srgbClr val="9900FF"/>
              </a:solidFill>
            </a:endParaRPr>
          </a:p>
        </p:txBody>
      </p:sp>
      <p:pic>
        <p:nvPicPr>
          <p:cNvPr id="142" name="Google Shape;142;p23"/>
          <p:cNvPicPr preferRelativeResize="0"/>
          <p:nvPr/>
        </p:nvPicPr>
        <p:blipFill>
          <a:blip r:embed="rId3">
            <a:alphaModFix/>
          </a:blip>
          <a:stretch>
            <a:fillRect/>
          </a:stretch>
        </p:blipFill>
        <p:spPr>
          <a:xfrm>
            <a:off x="6801600" y="0"/>
            <a:ext cx="2342400" cy="234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46" name="Shape 146"/>
        <p:cNvGrpSpPr/>
        <p:nvPr/>
      </p:nvGrpSpPr>
      <p:grpSpPr>
        <a:xfrm>
          <a:off x="0" y="0"/>
          <a:ext cx="0" cy="0"/>
          <a:chOff x="0" y="0"/>
          <a:chExt cx="0" cy="0"/>
        </a:xfrm>
      </p:grpSpPr>
      <p:sp>
        <p:nvSpPr>
          <p:cNvPr id="147" name="Google Shape;147;p24"/>
          <p:cNvSpPr txBox="1"/>
          <p:nvPr>
            <p:ph type="title"/>
          </p:nvPr>
        </p:nvSpPr>
        <p:spPr>
          <a:xfrm>
            <a:off x="455425" y="550575"/>
            <a:ext cx="7923900" cy="350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9520">
                <a:latin typeface="Source Code Pro ExtraBold"/>
                <a:ea typeface="Source Code Pro ExtraBold"/>
                <a:cs typeface="Source Code Pro ExtraBold"/>
                <a:sym typeface="Source Code Pro ExtraBold"/>
              </a:rPr>
              <a:t>Q&amp;A</a:t>
            </a:r>
            <a:r>
              <a:rPr b="0" lang="en" sz="9520">
                <a:latin typeface="Source Code Pro ExtraBold"/>
                <a:ea typeface="Source Code Pro ExtraBold"/>
                <a:cs typeface="Source Code Pro ExtraBold"/>
                <a:sym typeface="Source Code Pro ExtraBold"/>
              </a:rPr>
              <a:t>:</a:t>
            </a:r>
            <a:r>
              <a:rPr b="0" lang="en" sz="19720">
                <a:latin typeface="Source Code Pro ExtraBold"/>
                <a:ea typeface="Source Code Pro ExtraBold"/>
                <a:cs typeface="Source Code Pro ExtraBold"/>
                <a:sym typeface="Source Code Pro ExtraBold"/>
              </a:rPr>
              <a:t>?</a:t>
            </a:r>
            <a:endParaRPr b="0" sz="19720">
              <a:latin typeface="Source Code Pro ExtraBold"/>
              <a:ea typeface="Source Code Pro ExtraBold"/>
              <a:cs typeface="Source Code Pro ExtraBold"/>
              <a:sym typeface="Source Code Pro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